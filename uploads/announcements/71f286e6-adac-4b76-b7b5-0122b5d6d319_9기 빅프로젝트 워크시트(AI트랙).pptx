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89" r:id="rId5"/>
    <p:sldId id="258" r:id="rId6"/>
    <p:sldId id="260" r:id="rId7"/>
    <p:sldId id="261" r:id="rId8"/>
    <p:sldId id="262" r:id="rId9"/>
    <p:sldId id="263" r:id="rId10"/>
    <p:sldId id="264" r:id="rId11"/>
    <p:sldId id="290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59" r:id="rId35"/>
    <p:sldId id="288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935F562-1009-44A3-9D24-2175EFC73CEB}">
          <p14:sldIdLst>
            <p14:sldId id="289"/>
            <p14:sldId id="258"/>
          </p14:sldIdLst>
        </p14:section>
        <p14:section name="과제 심의" id="{89AA23F9-1B40-4703-9E5C-968745789C31}">
          <p14:sldIdLst>
            <p14:sldId id="260"/>
            <p14:sldId id="261"/>
            <p14:sldId id="262"/>
            <p14:sldId id="263"/>
            <p14:sldId id="264"/>
            <p14:sldId id="290"/>
            <p14:sldId id="265"/>
            <p14:sldId id="266"/>
            <p14:sldId id="267"/>
            <p14:sldId id="268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타당성 검토" id="{F106AA9D-129D-4EAD-A93B-BDA745F74B4A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품질 평가" id="{27920C22-E744-47B3-A630-F518F940CC0B}">
          <p14:sldIdLst>
            <p14:sldId id="284"/>
            <p14:sldId id="285"/>
            <p14:sldId id="286"/>
          </p14:sldIdLst>
        </p14:section>
        <p14:section name="과제 완료" id="{A4FE09BC-5615-40A7-8886-BEE8768CB249}">
          <p14:sldIdLst>
            <p14:sldId id="287"/>
            <p14:sldId id="259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D360E-3F3F-00AA-C0B3-CA322A06E824}" v="1" dt="2026-06-29T00:23:33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채린" userId="S::a091305@aivle.kt.co.kr::ce333f1e-b593-4ff1-a942-a94c879f7ad8" providerId="AD" clId="Web-{5B5D360E-3F3F-00AA-C0B3-CA322A06E824}"/>
    <pc:docChg chg="sldOrd">
      <pc:chgData name="김채린" userId="S::a091305@aivle.kt.co.kr::ce333f1e-b593-4ff1-a942-a94c879f7ad8" providerId="AD" clId="Web-{5B5D360E-3F3F-00AA-C0B3-CA322A06E824}" dt="2026-06-29T00:23:33.193" v="0"/>
      <pc:docMkLst>
        <pc:docMk/>
      </pc:docMkLst>
      <pc:sldChg chg="ord">
        <pc:chgData name="김채린" userId="S::a091305@aivle.kt.co.kr::ce333f1e-b593-4ff1-a942-a94c879f7ad8" providerId="AD" clId="Web-{5B5D360E-3F3F-00AA-C0B3-CA322A06E824}" dt="2026-06-29T00:23:33.193" v="0"/>
        <pc:sldMkLst>
          <pc:docMk/>
          <pc:sldMk cId="1259910277" sldId="261"/>
        </pc:sldMkLst>
      </pc:sldChg>
    </pc:docChg>
  </pc:docChgLst>
  <pc:docChgLst>
    <pc:chgData name="코치 정창민" userId="S::c017006@aivle.kt.co.kr::d85ff18b-7285-4a6a-a8ab-65fa2952fe63" providerId="AD" clId="Web-{DA9E6944-D198-B555-039C-5CD82434017C}"/>
    <pc:docChg chg="modSld">
      <pc:chgData name="코치 정창민" userId="S::c017006@aivle.kt.co.kr::d85ff18b-7285-4a6a-a8ab-65fa2952fe63" providerId="AD" clId="Web-{DA9E6944-D198-B555-039C-5CD82434017C}" dt="2026-06-26T01:05:49.273" v="2"/>
      <pc:docMkLst>
        <pc:docMk/>
      </pc:docMkLst>
      <pc:sldChg chg="modNotes">
        <pc:chgData name="코치 정창민" userId="S::c017006@aivle.kt.co.kr::d85ff18b-7285-4a6a-a8ab-65fa2952fe63" providerId="AD" clId="Web-{DA9E6944-D198-B555-039C-5CD82434017C}" dt="2026-06-26T01:04:47.943" v="0"/>
        <pc:sldMkLst>
          <pc:docMk/>
          <pc:sldMk cId="1857890476" sldId="264"/>
        </pc:sldMkLst>
      </pc:sldChg>
      <pc:sldChg chg="modNotes">
        <pc:chgData name="코치 정창민" userId="S::c017006@aivle.kt.co.kr::d85ff18b-7285-4a6a-a8ab-65fa2952fe63" providerId="AD" clId="Web-{DA9E6944-D198-B555-039C-5CD82434017C}" dt="2026-06-26T01:05:49.273" v="2"/>
        <pc:sldMkLst>
          <pc:docMk/>
          <pc:sldMk cId="420771281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53181-CCAC-495D-96D2-4964F87371F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6D90A-AA0A-462D-B39F-CBD7C8AB78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030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※ </a:t>
            </a:r>
            <a:r>
              <a:rPr lang="ko-KR" altLang="en-US"/>
              <a:t>글씨체 </a:t>
            </a:r>
            <a:r>
              <a:rPr lang="en-US" altLang="ko-KR"/>
              <a:t>: </a:t>
            </a:r>
            <a:r>
              <a:rPr lang="ko-KR" altLang="en-US" err="1"/>
              <a:t>맑은고딕</a:t>
            </a:r>
            <a:r>
              <a:rPr lang="ko-KR" altLang="en-US"/>
              <a:t> 또는 </a:t>
            </a:r>
            <a:r>
              <a:rPr lang="ko-KR" altLang="en-US" err="1"/>
              <a:t>나눔스퀘어</a:t>
            </a:r>
            <a:r>
              <a:rPr lang="ko-KR" altLang="en-US"/>
              <a:t> 활용 권장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59E83-DD15-49A5-B765-19F21DF4BB1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019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b5d807d25a_29_5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1b5d807d25a_29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263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77472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632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9124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4594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ea typeface="맑은 고딕"/>
            </a:endParaRPr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337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3076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b5d807d25a_29_8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2215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b5d807d25a_29_8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6120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>
          <a:extLst>
            <a:ext uri="{FF2B5EF4-FFF2-40B4-BE49-F238E27FC236}">
              <a16:creationId xmlns:a16="http://schemas.microsoft.com/office/drawing/2014/main" id="{547B54D0-B432-9BBE-76DA-10745B30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>
            <a:extLst>
              <a:ext uri="{FF2B5EF4-FFF2-40B4-BE49-F238E27FC236}">
                <a16:creationId xmlns:a16="http://schemas.microsoft.com/office/drawing/2014/main" id="{B1B4F4B9-C306-6D17-35D3-5552A67BB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>
            <a:extLst>
              <a:ext uri="{FF2B5EF4-FFF2-40B4-BE49-F238E27FC236}">
                <a16:creationId xmlns:a16="http://schemas.microsoft.com/office/drawing/2014/main" id="{BBC10D5E-0CA8-D252-7423-4A88E1838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ㅇ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인프라 설계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인프라 구성에서 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아키텍쳐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구성은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Web, DB, AI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모델기능이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분리 되어있는 지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/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한 서버에 두면 성능이 저하됨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/ DB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는 무조건 격리되며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WAS(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중간백엔드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)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와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Connect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될 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수있게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하는 것이 정석</a:t>
            </a:r>
            <a:endParaRPr lang="ko-KR" altLang="en-US" sz="1200" b="0" i="0" kern="120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Cloud Watch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기능을 통해 장애 관제해볼 것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. Watch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하나 깔고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개발조직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/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운영조직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회사에 가면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50:50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이니 경험해볼 것</a:t>
            </a:r>
            <a:endParaRPr lang="ko-KR" altLang="en-US" sz="1200" b="0" i="0" kern="120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r>
              <a:rPr lang="en-US" altLang="ko-KR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Git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hub </a:t>
            </a:r>
            <a:r>
              <a:rPr lang="en-US" altLang="ko-KR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url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: 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개발사항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기록관리를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위해서 진행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이후 포트폴리오 작성에도 도움될 것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필수사항 아니지만 꼭 개설할 것을 권장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(</a:t>
            </a:r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제출필요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)</a:t>
            </a:r>
            <a:endParaRPr lang="ko-KR" altLang="en-US" sz="1200" b="0" i="0" kern="120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r>
              <a:rPr lang="ko-KR" altLang="en-US" sz="1200" b="1" i="0" kern="1200" err="1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니다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.</a:t>
            </a:r>
            <a:endParaRPr lang="ko-KR" altLang="en-US" sz="1200" b="0" i="0" kern="120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22" name="Google Shape;422;g1b5d807d25a_29_83:notes">
            <a:extLst>
              <a:ext uri="{FF2B5EF4-FFF2-40B4-BE49-F238E27FC236}">
                <a16:creationId xmlns:a16="http://schemas.microsoft.com/office/drawing/2014/main" id="{C5740FBA-C09D-3870-8599-67A946E740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3130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b5d807d25a_29_8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0574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b5d807d25a_29_8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9458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b5d807d25a_29_8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045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b5d807d25a_29_8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9982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b5d807d25a_29_8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2170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5d807d25a_29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1b5d807d25a_29_8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1b5d807d25a_29_8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78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13069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5991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5706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6690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b5d807d25a_29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g1b5d807d25a_29_172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400" b="1"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08" name="Google Shape;508;g1b5d807d25a_29_172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40255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b5d807d25a_29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g1b5d807d25a_29_172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08" name="Google Shape;508;g1b5d807d25a_29_172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5514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b5d807d25a_29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1b5d807d25a_29_99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1b5d807d25a_29_99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93854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b5d807d25a_29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1b5d807d25a_29_99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1b5d807d25a_29_99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855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054586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59830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70822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30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055913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>
          <a:extLst>
            <a:ext uri="{FF2B5EF4-FFF2-40B4-BE49-F238E27FC236}">
              <a16:creationId xmlns:a16="http://schemas.microsoft.com/office/drawing/2014/main" id="{5B8D38FD-A51B-4E99-8743-4A9DFABB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b5d807d25a_29_53:notes">
            <a:extLst>
              <a:ext uri="{FF2B5EF4-FFF2-40B4-BE49-F238E27FC236}">
                <a16:creationId xmlns:a16="http://schemas.microsoft.com/office/drawing/2014/main" id="{9A54BA80-2A29-A0F5-87FD-DCAC3032D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1b5d807d25a_29_53:notes">
            <a:extLst>
              <a:ext uri="{FF2B5EF4-FFF2-40B4-BE49-F238E27FC236}">
                <a16:creationId xmlns:a16="http://schemas.microsoft.com/office/drawing/2014/main" id="{67FA2C6D-6D8A-EF17-9C2F-12B6C36206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1199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fld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97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014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53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81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68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63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92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28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61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6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022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757A403-5E05-56E0-256A-5D3348DC70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510"/>
            <a:ext cx="12192000" cy="686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60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hapter &amp; Sub Unit" userDrawn="1">
  <p:cSld name="1_Chapter &amp; Sub Uni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1FC6C43-F4C6-4808-60DC-0CB1F15D65C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0"/>
          <a:ext cx="12192001" cy="68579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89097">
                  <a:extLst>
                    <a:ext uri="{9D8B030D-6E8A-4147-A177-3AD203B41FA5}">
                      <a16:colId xmlns:a16="http://schemas.microsoft.com/office/drawing/2014/main" val="1546191353"/>
                    </a:ext>
                  </a:extLst>
                </a:gridCol>
                <a:gridCol w="2806703">
                  <a:extLst>
                    <a:ext uri="{9D8B030D-6E8A-4147-A177-3AD203B41FA5}">
                      <a16:colId xmlns:a16="http://schemas.microsoft.com/office/drawing/2014/main" val="707711006"/>
                    </a:ext>
                  </a:extLst>
                </a:gridCol>
                <a:gridCol w="1422401">
                  <a:extLst>
                    <a:ext uri="{9D8B030D-6E8A-4147-A177-3AD203B41FA5}">
                      <a16:colId xmlns:a16="http://schemas.microsoft.com/office/drawing/2014/main" val="3203178697"/>
                    </a:ext>
                  </a:extLst>
                </a:gridCol>
                <a:gridCol w="2527302">
                  <a:extLst>
                    <a:ext uri="{9D8B030D-6E8A-4147-A177-3AD203B41FA5}">
                      <a16:colId xmlns:a16="http://schemas.microsoft.com/office/drawing/2014/main" val="28278251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444774219"/>
                    </a:ext>
                  </a:extLst>
                </a:gridCol>
                <a:gridCol w="898070">
                  <a:extLst>
                    <a:ext uri="{9D8B030D-6E8A-4147-A177-3AD203B41FA5}">
                      <a16:colId xmlns:a16="http://schemas.microsoft.com/office/drawing/2014/main" val="1513174214"/>
                    </a:ext>
                  </a:extLst>
                </a:gridCol>
                <a:gridCol w="1705426">
                  <a:extLst>
                    <a:ext uri="{9D8B030D-6E8A-4147-A177-3AD203B41FA5}">
                      <a16:colId xmlns:a16="http://schemas.microsoft.com/office/drawing/2014/main" val="1638008349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3008895902"/>
                    </a:ext>
                  </a:extLst>
                </a:gridCol>
              </a:tblGrid>
              <a:tr h="575501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27173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  <a:sym typeface="Wingdings 3" pitchFamily="18" charset="2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27173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UI </a:t>
                      </a:r>
                      <a:r>
                        <a:rPr kumimoji="1" lang="ko-KR" altLang="en-US" sz="16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설계서</a:t>
                      </a: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27173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224272"/>
                  </a:ext>
                </a:extLst>
              </a:tr>
              <a:tr h="485225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Project</a:t>
                      </a:r>
                      <a:r>
                        <a:rPr kumimoji="1" lang="ko-KR" altLang="en-US" sz="11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명</a:t>
                      </a:r>
                      <a:endParaRPr kumimoji="1" lang="en-US" altLang="ko-KR" sz="11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endParaRPr kumimoji="1" lang="ko-KR" sz="1100" b="0" i="0" u="none" strike="noStrike" cap="none" spc="0" normalizeH="0" baseline="0" noProof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Wingdings 3" pitchFamily="18" charset="2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</a:t>
                      </a:r>
                      <a:r>
                        <a:rPr kumimoji="1" lang="en-US" altLang="ko-KR" sz="11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ID</a:t>
                      </a: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서버</a:t>
                      </a: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686254"/>
                  </a:ext>
                </a:extLst>
              </a:tr>
              <a:tr h="485225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spc="0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화면경로</a:t>
                      </a:r>
                      <a:endParaRPr kumimoji="1" lang="ko-KR" altLang="en-US" sz="11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en-US" sz="11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Wingdings 3" pitchFamily="18" charset="2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spc="0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화면명</a:t>
                      </a:r>
                      <a:endParaRPr kumimoji="1" lang="ko-KR" altLang="en-US" sz="11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버전</a:t>
                      </a: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07823"/>
                  </a:ext>
                </a:extLst>
              </a:tr>
              <a:tr h="473940">
                <a:tc gridSpan="4">
                  <a:txBody>
                    <a:bodyPr/>
                    <a:lstStyle/>
                    <a:p>
                      <a:pPr marL="0" marR="0" indent="0" algn="ctr" defTabSz="109746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구성</a:t>
                      </a:r>
                    </a:p>
                  </a:txBody>
                  <a:tcPr marL="41564" marR="41564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3" pitchFamily="18" charset="2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109746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설명</a:t>
                      </a: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340256"/>
                  </a:ext>
                </a:extLst>
              </a:tr>
              <a:tr h="598069"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ea typeface="강원교육튼튼"/>
                      </a:endParaRP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3" pitchFamily="18" charset="2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강원교육튼튼"/>
                        <a:ea typeface="강원교육튼튼" panose="02020603020101020101" pitchFamily="18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b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강원교육튼튼"/>
                        <a:ea typeface="강원교육튼튼"/>
                      </a:endParaRP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637474"/>
                  </a:ext>
                </a:extLst>
              </a:tr>
              <a:tr h="2806399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강원교육튼튼"/>
                        <a:ea typeface="강원교육튼튼" panose="02020603020101020101" pitchFamily="18" charset="-127"/>
                      </a:endParaRPr>
                    </a:p>
                  </a:txBody>
                  <a:tcPr marL="41564" marR="41564" marT="34350" marB="3435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AutoNum type="arabicParenR"/>
                      </a:pPr>
                      <a:endParaRPr lang="en-US" altLang="ko-KR" sz="7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83127" marR="83127" marT="41564" marB="4156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915923"/>
                  </a:ext>
                </a:extLst>
              </a:tr>
              <a:tr h="1433640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강원교육튼튼"/>
                        <a:ea typeface="강원교육튼튼"/>
                      </a:endParaRPr>
                    </a:p>
                  </a:txBody>
                  <a:tcPr marL="41564" marR="41564" marT="34350" marB="34350"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lang="en-US" altLang="ko-KR" sz="7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83127" marR="83127" marT="41564" marB="41564"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919687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0" y="90034"/>
            <a:ext cx="1528214" cy="358290"/>
          </a:xfrm>
          <a:prstGeom prst="rect">
            <a:avLst/>
          </a:prstGeom>
        </p:spPr>
      </p:pic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692603" y="588032"/>
            <a:ext cx="2784804" cy="473513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텍스트 개체 틀 4"/>
          <p:cNvSpPr>
            <a:spLocks noGrp="1"/>
          </p:cNvSpPr>
          <p:nvPr>
            <p:ph type="body" sz="quarter" idx="11"/>
          </p:nvPr>
        </p:nvSpPr>
        <p:spPr>
          <a:xfrm>
            <a:off x="5927834" y="588032"/>
            <a:ext cx="2490952" cy="473513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7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9722287" y="588032"/>
            <a:ext cx="2469714" cy="473513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8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1692603" y="1061545"/>
            <a:ext cx="2784804" cy="473513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9" name="텍스트 개체 틀 4"/>
          <p:cNvSpPr>
            <a:spLocks noGrp="1"/>
          </p:cNvSpPr>
          <p:nvPr>
            <p:ph type="body" sz="quarter" idx="14"/>
          </p:nvPr>
        </p:nvSpPr>
        <p:spPr>
          <a:xfrm>
            <a:off x="5927834" y="1061545"/>
            <a:ext cx="2490952" cy="473513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5"/>
          </p:nvPr>
        </p:nvSpPr>
        <p:spPr>
          <a:xfrm>
            <a:off x="9722288" y="1061545"/>
            <a:ext cx="2469712" cy="473513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849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D999E1-258C-069F-B86A-6232DD34FA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Google Shape;43;p42">
            <a:extLst>
              <a:ext uri="{FF2B5EF4-FFF2-40B4-BE49-F238E27FC236}">
                <a16:creationId xmlns:a16="http://schemas.microsoft.com/office/drawing/2014/main" id="{A1CA6195-DA48-4D27-B667-218BC9E3AEFF}"/>
              </a:ext>
            </a:extLst>
          </p:cNvPr>
          <p:cNvCxnSpPr>
            <a:cxnSpLocks/>
          </p:cNvCxnSpPr>
          <p:nvPr userDrawn="1"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57;p11">
            <a:extLst>
              <a:ext uri="{FF2B5EF4-FFF2-40B4-BE49-F238E27FC236}">
                <a16:creationId xmlns:a16="http://schemas.microsoft.com/office/drawing/2014/main" id="{CA5F837B-AAE4-477D-81BA-C18784B728C7}"/>
              </a:ext>
            </a:extLst>
          </p:cNvPr>
          <p:cNvSpPr txBox="1">
            <a:spLocks/>
          </p:cNvSpPr>
          <p:nvPr userDrawn="1"/>
        </p:nvSpPr>
        <p:spPr>
          <a:xfrm>
            <a:off x="983632" y="2095201"/>
            <a:ext cx="8245702" cy="145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l"/>
            <a:r>
              <a:rPr lang="en-US" altLang="ko-KR" sz="900" b="1">
                <a:solidFill>
                  <a:srgbClr val="67BDC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400" b="1">
                <a:solidFill>
                  <a:srgbClr val="67BDC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b="1">
                <a:solidFill>
                  <a:srgbClr val="02BD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KT AIVLE School 9</a:t>
            </a:r>
            <a:r>
              <a:rPr lang="ko-KR" altLang="en-US" sz="2800" b="1">
                <a:solidFill>
                  <a:srgbClr val="02BD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 </a:t>
            </a:r>
            <a:r>
              <a:rPr lang="ko-KR" altLang="en-US" sz="2800" b="1" err="1">
                <a:solidFill>
                  <a:srgbClr val="02BDB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빅프로젝트</a:t>
            </a:r>
            <a:endParaRPr lang="en-US" altLang="ko-KR" sz="2800" b="1">
              <a:solidFill>
                <a:srgbClr val="02BDB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Google Shape;40;p42">
            <a:extLst>
              <a:ext uri="{FF2B5EF4-FFF2-40B4-BE49-F238E27FC236}">
                <a16:creationId xmlns:a16="http://schemas.microsoft.com/office/drawing/2014/main" id="{257A3FF8-0923-4282-A567-EF1BFBF47EE1}"/>
              </a:ext>
            </a:extLst>
          </p:cNvPr>
          <p:cNvSpPr/>
          <p:nvPr userDrawn="1"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pic>
        <p:nvPicPr>
          <p:cNvPr id="12" name="Google Shape;41;p4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D57560E-3BFC-450A-8DFF-F178AB45C41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9E7F6888-DD09-453C-AA8B-B8F6AE18F2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6002" y="2732724"/>
            <a:ext cx="8402637" cy="823986"/>
          </a:xfrm>
        </p:spPr>
        <p:txBody>
          <a:bodyPr>
            <a:normAutofit/>
          </a:bodyPr>
          <a:lstStyle>
            <a:lvl1pPr marL="0" indent="0">
              <a:buNone/>
              <a:defRPr sz="4400" b="1"/>
            </a:lvl1pPr>
          </a:lstStyle>
          <a:p>
            <a:pPr lvl="0"/>
            <a:r>
              <a:rPr lang="ko-KR" altLang="en-US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10801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B449B-DEB6-4B7A-8333-5BB8C3498E31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8066C-8CEE-48CF-A2A6-E012001D1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37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5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A3E487-D8AD-4CA7-8C41-F51CEDDAA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산출물 워크시트 </a:t>
            </a:r>
            <a:r>
              <a:rPr lang="en-US" altLang="ko-KR"/>
              <a:t>(AI</a:t>
            </a:r>
            <a:r>
              <a:rPr lang="ko-KR" altLang="en-US"/>
              <a:t>트랙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01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b5d807d25a_29_53"/>
          <p:cNvSpPr txBox="1"/>
          <p:nvPr/>
        </p:nvSpPr>
        <p:spPr>
          <a:xfrm>
            <a:off x="134654" y="101758"/>
            <a:ext cx="41230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err="1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주차별</a:t>
            </a:r>
            <a:r>
              <a:rPr lang="ko-KR" sz="2400" b="1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 제출 자료</a:t>
            </a:r>
            <a:endParaRPr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95" name="Google Shape;395;g1b5d807d25a_29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394;g1b5d807d25a_29_53"/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396;g1b5d807d25a_29_53"/>
          <p:cNvSpPr txBox="1"/>
          <p:nvPr/>
        </p:nvSpPr>
        <p:spPr>
          <a:xfrm>
            <a:off x="382521" y="857794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매주 금요일 </a:t>
            </a:r>
            <a:r>
              <a:rPr lang="ko-KR" sz="1600" b="1" err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주차별</a:t>
            </a: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산출물 제출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graphicFrame>
        <p:nvGraphicFramePr>
          <p:cNvPr id="7" name="Google Shape;397;g1b5d807d25a_29_53"/>
          <p:cNvGraphicFramePr/>
          <p:nvPr>
            <p:extLst>
              <p:ext uri="{D42A27DB-BD31-4B8C-83A1-F6EECF244321}">
                <p14:modId xmlns:p14="http://schemas.microsoft.com/office/powerpoint/2010/main" val="579934200"/>
              </p:ext>
            </p:extLst>
          </p:nvPr>
        </p:nvGraphicFramePr>
        <p:xfrm>
          <a:off x="762976" y="1263051"/>
          <a:ext cx="10480633" cy="550896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97344">
                  <a:extLst>
                    <a:ext uri="{9D8B030D-6E8A-4147-A177-3AD203B41FA5}">
                      <a16:colId xmlns:a16="http://schemas.microsoft.com/office/drawing/2014/main" val="2343760781"/>
                    </a:ext>
                  </a:extLst>
                </a:gridCol>
                <a:gridCol w="5309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6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6937">
                  <a:extLst>
                    <a:ext uri="{9D8B030D-6E8A-4147-A177-3AD203B41FA5}">
                      <a16:colId xmlns:a16="http://schemas.microsoft.com/office/drawing/2014/main" val="3565146155"/>
                    </a:ext>
                  </a:extLst>
                </a:gridCol>
              </a:tblGrid>
              <a:tr h="4185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900" b="1" i="0" u="none" strike="noStrike" cap="none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  <a:sym typeface="Arial"/>
                        </a:rPr>
                        <a:t>구분</a:t>
                      </a:r>
                      <a:endParaRPr sz="1900" b="1" i="0" u="none" strike="noStrike" cap="none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/>
                        <a:sym typeface="Arial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u="none" strike="noStrike" cap="none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  <a:cs typeface="Malgun Gothic"/>
                          <a:sym typeface="Malgun Gothic"/>
                        </a:rPr>
                        <a:t>제출 자료</a:t>
                      </a:r>
                      <a:endParaRPr sz="1600" b="1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권장진도</a:t>
                      </a:r>
                      <a:endParaRPr sz="1800" b="1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데드라인</a:t>
                      </a:r>
                      <a:endParaRPr sz="1800" b="1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3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과제 심의</a:t>
                      </a:r>
                      <a:endParaRPr sz="1800" b="1" i="0" u="none" strike="noStrike" cap="none">
                        <a:solidFill>
                          <a:schemeClr val="dk1"/>
                        </a:solidFill>
                        <a:latin typeface="나눔스퀘어 Bold" panose="020B0600000101010101" pitchFamily="50" charset="-127"/>
                        <a:ea typeface="나눔스퀘어 Bold"/>
                        <a:sym typeface="Arial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1" u="sng">
                          <a:latin typeface="나눔스퀘어 Bold"/>
                          <a:ea typeface="나눔스퀘어 Bold"/>
                        </a:rPr>
                        <a:t>Weekly Scrum</a:t>
                      </a:r>
                      <a:r>
                        <a:rPr lang="en-US" altLang="ko-KR" sz="1800" b="1">
                          <a:latin typeface="나눔스퀘어 Bold"/>
                          <a:ea typeface="나눔스퀘어 Bold"/>
                        </a:rPr>
                        <a:t>, </a:t>
                      </a:r>
                      <a:r>
                        <a:rPr lang="ko-KR" altLang="en-US" sz="1800" b="1" u="sng">
                          <a:latin typeface="나눔스퀘어 Bold"/>
                          <a:ea typeface="나눔스퀘어 Bold"/>
                        </a:rPr>
                        <a:t>조별 과제 정의서</a:t>
                      </a:r>
                      <a:r>
                        <a:rPr lang="en-US" altLang="ko-KR" sz="1800" b="1">
                          <a:latin typeface="나눔스퀘어 Bold"/>
                          <a:ea typeface="나눔스퀘어 Bold"/>
                        </a:rPr>
                        <a:t>, </a:t>
                      </a:r>
                      <a:r>
                        <a:rPr lang="ko-KR" altLang="en-US" sz="1800" b="1">
                          <a:latin typeface="나눔스퀘어 Bold"/>
                          <a:ea typeface="나눔스퀘어 Bold"/>
                        </a:rPr>
                        <a:t>요구사항 정의서</a:t>
                      </a:r>
                      <a:r>
                        <a:rPr lang="en-US" altLang="ko-KR" sz="1800" b="1">
                          <a:latin typeface="나눔스퀘어 Bold"/>
                          <a:ea typeface="나눔스퀘어 Bold"/>
                        </a:rPr>
                        <a:t>,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>
                          <a:latin typeface="나눔스퀘어 Bold" panose="020B0600000101010101" pitchFamily="50" charset="-127"/>
                          <a:ea typeface="나눔스퀘어 Bold"/>
                        </a:rPr>
                        <a:t>아키텍처 정의서</a:t>
                      </a:r>
                      <a:r>
                        <a:rPr lang="en-US" altLang="ko-KR" sz="1800" b="1">
                          <a:latin typeface="나눔스퀘어 Bold" panose="020B0600000101010101" pitchFamily="50" charset="-127"/>
                          <a:ea typeface="나눔스퀘어 Bold"/>
                        </a:rPr>
                        <a:t>, </a:t>
                      </a:r>
                      <a:r>
                        <a:rPr lang="ko-KR" altLang="en-US" sz="1800" b="1">
                          <a:latin typeface="나눔스퀘어 Bold" panose="020B0600000101010101" pitchFamily="50" charset="-127"/>
                          <a:ea typeface="나눔스퀘어 Bold"/>
                        </a:rPr>
                        <a:t>서비스 플로우</a:t>
                      </a:r>
                      <a:r>
                        <a:rPr lang="en-US" altLang="ko-KR" sz="1800" b="1">
                          <a:latin typeface="나눔스퀘어 Bold" panose="020B0600000101010101" pitchFamily="50" charset="-127"/>
                          <a:ea typeface="나눔스퀘어 Bold"/>
                        </a:rPr>
                        <a:t>, ERD, UIUX </a:t>
                      </a:r>
                      <a:r>
                        <a:rPr lang="ko-KR" altLang="en-US" sz="1800" b="1">
                          <a:latin typeface="나눔스퀘어 Bold" panose="020B0600000101010101" pitchFamily="50" charset="-127"/>
                          <a:ea typeface="나눔스퀘어 Bold"/>
                        </a:rPr>
                        <a:t>설계서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>
                          <a:latin typeface="나눔스퀘어 Bold" panose="020B0600000101010101" pitchFamily="50" charset="-127"/>
                          <a:ea typeface="나눔스퀘어 Bold"/>
                        </a:rPr>
                        <a:t>총 </a:t>
                      </a:r>
                      <a:r>
                        <a:rPr lang="en-US" altLang="ko-KR" sz="1800" b="1">
                          <a:latin typeface="나눔스퀘어 Bold" panose="020B0600000101010101" pitchFamily="50" charset="-127"/>
                          <a:ea typeface="나눔스퀘어 Bold"/>
                        </a:rPr>
                        <a:t>7</a:t>
                      </a:r>
                      <a:r>
                        <a:rPr lang="ko-KR" altLang="en-US" sz="1800" b="1">
                          <a:latin typeface="나눔스퀘어 Bold" panose="020B0600000101010101" pitchFamily="50" charset="-127"/>
                          <a:ea typeface="나눔스퀘어 Bold"/>
                        </a:rPr>
                        <a:t>종</a:t>
                      </a: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1~2</a:t>
                      </a:r>
                      <a:r>
                        <a:rPr 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주차</a:t>
                      </a:r>
                      <a:endParaRPr sz="1800" b="1"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~7.10</a:t>
                      </a:r>
                      <a:endParaRPr sz="1800" b="1" i="0" u="none" strike="noStrike" cap="none">
                        <a:solidFill>
                          <a:schemeClr val="dk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Arial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3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타당성 검토</a:t>
                      </a: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1">
                          <a:latin typeface="나눔스퀘어 Bold" panose="020B0600000101010101" pitchFamily="50" charset="-127"/>
                          <a:ea typeface="나눔스퀘어 Bold"/>
                        </a:rPr>
                        <a:t>Weekly Scrum, </a:t>
                      </a:r>
                      <a:r>
                        <a:rPr lang="ko-KR" altLang="en-US" sz="1800" b="1">
                          <a:latin typeface="나눔스퀘어 Bold" panose="020B0600000101010101" pitchFamily="50" charset="-127"/>
                          <a:ea typeface="나눔스퀘어 Bold"/>
                        </a:rPr>
                        <a:t>데이터 정의서</a:t>
                      </a:r>
                      <a:r>
                        <a:rPr lang="en-US" altLang="ko-KR" sz="1800" b="1">
                          <a:latin typeface="나눔스퀘어 Bold" panose="020B0600000101010101" pitchFamily="50" charset="-127"/>
                          <a:ea typeface="나눔스퀘어 Bold"/>
                        </a:rPr>
                        <a:t>, AI</a:t>
                      </a:r>
                      <a:r>
                        <a:rPr lang="ko-KR" altLang="en-US" sz="1800" b="1">
                          <a:latin typeface="나눔스퀘어 Bold" panose="020B0600000101010101" pitchFamily="50" charset="-127"/>
                          <a:ea typeface="나눔스퀘어 Bold"/>
                        </a:rPr>
                        <a:t>모델 정의서</a:t>
                      </a: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3-5</a:t>
                      </a:r>
                      <a:r>
                        <a:rPr 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주차</a:t>
                      </a:r>
                      <a:endParaRPr sz="1800" b="1"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~7.31</a:t>
                      </a:r>
                      <a:endParaRPr sz="1800" b="1" i="0" u="none" strike="noStrike" cap="none">
                        <a:solidFill>
                          <a:schemeClr val="dk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Arial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3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품질 평가</a:t>
                      </a: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Weekly Scrum,</a:t>
                      </a: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altLang="ko-KR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PPT </a:t>
                      </a:r>
                      <a:r>
                        <a:rPr lang="ko-KR" alt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최종본</a:t>
                      </a:r>
                      <a:r>
                        <a:rPr lang="en-US" altLang="ko-KR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,</a:t>
                      </a:r>
                      <a:r>
                        <a:rPr lang="en-US" altLang="ko-KR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</a:t>
                      </a:r>
                      <a:r>
                        <a:rPr lang="en-US" altLang="ko-KR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1</a:t>
                      </a:r>
                      <a:r>
                        <a:rPr lang="ko-KR" alt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페이지 안내 </a:t>
                      </a:r>
                      <a:r>
                        <a:rPr lang="ko-KR" alt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최종본</a:t>
                      </a:r>
                      <a:endParaRPr lang="ko-KR" sz="1800" b="1" i="0" u="none" strike="noStrike" cap="none">
                        <a:solidFill>
                          <a:schemeClr val="dk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6-7</a:t>
                      </a:r>
                      <a:r>
                        <a:rPr 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주차</a:t>
                      </a:r>
                      <a:endParaRPr sz="1800" b="1"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~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8.14</a:t>
                      </a:r>
                      <a:endParaRPr lang="en-US" sz="1800" b="1" i="0" u="none" strike="noStrike" cap="none">
                        <a:solidFill>
                          <a:schemeClr val="dk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Arial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43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/>
                          <a:sym typeface="Arial"/>
                        </a:rPr>
                        <a:t>과제 완료</a:t>
                      </a:r>
                      <a:endParaRPr sz="1800" b="1" i="0" u="none" strike="noStrike" cap="none">
                        <a:solidFill>
                          <a:schemeClr val="dk1"/>
                        </a:solidFill>
                        <a:latin typeface="나눔스퀘어 Bold" panose="020B0600000101010101" pitchFamily="50" charset="-127"/>
                        <a:ea typeface="나눔스퀘어 Bold"/>
                        <a:sym typeface="Arial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Malgun Gothic"/>
                          <a:sym typeface="Malgun Gothic"/>
                        </a:rPr>
                        <a:t>Weekly Scrum,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최종산출물</a:t>
                      </a: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총 </a:t>
                      </a: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종</a:t>
                      </a: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)</a:t>
                      </a:r>
                      <a:endParaRPr sz="1800" b="1"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sz="1800" b="1" u="none" strike="noStrike" cap="none">
                          <a:latin typeface="나눔스퀘어 Bold" panose="020B0600000101010101" pitchFamily="50" charset="-127"/>
                          <a:ea typeface="나눔스퀘어 Bold"/>
                          <a:cs typeface="Malgun Gothic"/>
                          <a:sym typeface="Malgun Gothic"/>
                        </a:rPr>
                        <a:t>주차</a:t>
                      </a:r>
                      <a:endParaRPr sz="1800" b="1"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~8.21</a:t>
                      </a:r>
                      <a:endParaRPr sz="1800" b="1" i="0" u="none" strike="noStrike" cap="none">
                        <a:solidFill>
                          <a:schemeClr val="dk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Arial"/>
                      </a:endParaRPr>
                    </a:p>
                  </a:txBody>
                  <a:tcPr marL="105679" marR="105679" marT="52839" marB="52839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5331125" y="857794"/>
            <a:ext cx="5912484" cy="2804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산출물은 </a:t>
            </a:r>
            <a:r>
              <a:rPr lang="en-US" altLang="ko-KR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</a:t>
            </a:r>
            <a:r>
              <a:rPr lang="en-US" altLang="ko-KR" sz="160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ppt</a:t>
            </a:r>
            <a:r>
              <a: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파일에 누적 관리하세요</a:t>
            </a:r>
            <a:r>
              <a:rPr lang="en-US" altLang="ko-KR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en-US" altLang="ko-KR" sz="1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 정의서 제외</a:t>
            </a:r>
            <a:r>
              <a:rPr lang="en-US" altLang="ko-KR" sz="14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4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5187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26E9521-833C-46B2-A322-CF4643D25B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390"/>
            <a:ext cx="12192000" cy="6858000"/>
          </a:xfrm>
          <a:prstGeom prst="rect">
            <a:avLst/>
          </a:prstGeom>
        </p:spPr>
      </p:pic>
      <p:sp>
        <p:nvSpPr>
          <p:cNvPr id="3" name="Google Shape;55;p44"/>
          <p:cNvSpPr/>
          <p:nvPr/>
        </p:nvSpPr>
        <p:spPr>
          <a:xfrm>
            <a:off x="1578196" y="2461534"/>
            <a:ext cx="1201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B6"/>
              </a:buClr>
              <a:buSzPts val="2000"/>
              <a:buFont typeface="Malgun Gothic"/>
              <a:buNone/>
            </a:pPr>
            <a:r>
              <a:rPr lang="en-US" sz="2000" b="0" i="0" u="none" strike="noStrike" cap="none">
                <a:solidFill>
                  <a:srgbClr val="02BDB6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1.</a:t>
            </a:r>
            <a:endParaRPr sz="2000" b="0" i="0" u="none" strike="noStrike" cap="none">
              <a:solidFill>
                <a:srgbClr val="02BDB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" name="Google Shape;56;p44"/>
          <p:cNvCxnSpPr/>
          <p:nvPr/>
        </p:nvCxnSpPr>
        <p:spPr>
          <a:xfrm>
            <a:off x="1662559" y="3018266"/>
            <a:ext cx="0" cy="115912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57;p11">
            <a:extLst>
              <a:ext uri="{FF2B5EF4-FFF2-40B4-BE49-F238E27FC236}">
                <a16:creationId xmlns:a16="http://schemas.microsoft.com/office/drawing/2014/main" id="{E1AD9563-D93B-CF8A-F4B4-B9023CB45518}"/>
              </a:ext>
            </a:extLst>
          </p:cNvPr>
          <p:cNvSpPr txBox="1">
            <a:spLocks/>
          </p:cNvSpPr>
          <p:nvPr/>
        </p:nvSpPr>
        <p:spPr>
          <a:xfrm>
            <a:off x="1918259" y="3150510"/>
            <a:ext cx="8355481" cy="89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48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과제 심의</a:t>
            </a:r>
          </a:p>
        </p:txBody>
      </p:sp>
    </p:spTree>
    <p:extLst>
      <p:ext uri="{BB962C8B-B14F-4D97-AF65-F5344CB8AC3E}">
        <p14:creationId xmlns:p14="http://schemas.microsoft.com/office/powerpoint/2010/main" val="283852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Weekly Scrum Template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924A8A-BAC7-83A2-CB92-F5883692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228640"/>
              </p:ext>
            </p:extLst>
          </p:nvPr>
        </p:nvGraphicFramePr>
        <p:xfrm>
          <a:off x="546016" y="1293245"/>
          <a:ext cx="11141348" cy="523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2077">
                  <a:extLst>
                    <a:ext uri="{9D8B030D-6E8A-4147-A177-3AD203B41FA5}">
                      <a16:colId xmlns:a16="http://schemas.microsoft.com/office/drawing/2014/main" val="2246536521"/>
                    </a:ext>
                  </a:extLst>
                </a:gridCol>
                <a:gridCol w="2882069">
                  <a:extLst>
                    <a:ext uri="{9D8B030D-6E8A-4147-A177-3AD203B41FA5}">
                      <a16:colId xmlns:a16="http://schemas.microsoft.com/office/drawing/2014/main" val="3343903442"/>
                    </a:ext>
                  </a:extLst>
                </a:gridCol>
                <a:gridCol w="2961865">
                  <a:extLst>
                    <a:ext uri="{9D8B030D-6E8A-4147-A177-3AD203B41FA5}">
                      <a16:colId xmlns:a16="http://schemas.microsoft.com/office/drawing/2014/main" val="422251080"/>
                    </a:ext>
                  </a:extLst>
                </a:gridCol>
                <a:gridCol w="2785337">
                  <a:extLst>
                    <a:ext uri="{9D8B030D-6E8A-4147-A177-3AD203B41FA5}">
                      <a16:colId xmlns:a16="http://schemas.microsoft.com/office/drawing/2014/main" val="1633466939"/>
                    </a:ext>
                  </a:extLst>
                </a:gridCol>
              </a:tblGrid>
              <a:tr h="406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분야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이번주 한 일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차주 계획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이슈사항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19638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AI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AI</a:t>
                      </a:r>
                      <a:r>
                        <a:rPr lang="en-US" altLang="ko-KR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</a:t>
                      </a:r>
                      <a:r>
                        <a:rPr lang="ko-KR" altLang="en-US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기능 아이디어 도출</a:t>
                      </a: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관련 데이터 찾기</a:t>
                      </a:r>
                      <a:r>
                        <a:rPr lang="en-US" altLang="ko-KR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공공기관</a:t>
                      </a:r>
                      <a:r>
                        <a:rPr lang="en-US" altLang="ko-KR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AI</a:t>
                      </a:r>
                      <a:r>
                        <a:rPr lang="en-US" altLang="ko-KR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</a:t>
                      </a:r>
                      <a:r>
                        <a:rPr lang="ko-KR" altLang="en-US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모델 탐색 및 테스트</a:t>
                      </a:r>
                      <a:endParaRPr lang="en-US" altLang="ko-KR" sz="14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추가 데이터 확보</a:t>
                      </a:r>
                      <a:endParaRPr lang="ko-KR" altLang="en-US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데이터</a:t>
                      </a:r>
                      <a:r>
                        <a:rPr lang="ko-KR" altLang="en-US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양이 적어서 추가 </a:t>
                      </a: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데이터 제작</a:t>
                      </a:r>
                      <a:r>
                        <a:rPr lang="en-US" altLang="ko-KR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</a:t>
                      </a: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고민 중</a:t>
                      </a: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688119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Web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19532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나눔스퀘어 ExtraBold" panose="020B0600000101010101" pitchFamily="50" charset="-127"/>
                          <a:ea typeface="나눔스퀘어 ExtraBold"/>
                        </a:rPr>
                        <a:t>BackEnd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91691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26094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발표 및 자료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52156"/>
                  </a:ext>
                </a:extLst>
              </a:tr>
            </a:tbl>
          </a:graphicData>
        </a:graphic>
      </p:graphicFrame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28F67F-293E-6326-E435-D58F695AAC5B}"/>
              </a:ext>
            </a:extLst>
          </p:cNvPr>
          <p:cNvSpPr/>
          <p:nvPr/>
        </p:nvSpPr>
        <p:spPr>
          <a:xfrm>
            <a:off x="1428969" y="1736106"/>
            <a:ext cx="763145" cy="308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예시</a:t>
            </a:r>
          </a:p>
        </p:txBody>
      </p:sp>
      <p:sp>
        <p:nvSpPr>
          <p:cNvPr id="13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Weekly Scrum Template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주차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991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Weekly Scrum Template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924A8A-BAC7-83A2-CB92-F5883692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1761"/>
              </p:ext>
            </p:extLst>
          </p:nvPr>
        </p:nvGraphicFramePr>
        <p:xfrm>
          <a:off x="546016" y="1293245"/>
          <a:ext cx="11141348" cy="523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2077">
                  <a:extLst>
                    <a:ext uri="{9D8B030D-6E8A-4147-A177-3AD203B41FA5}">
                      <a16:colId xmlns:a16="http://schemas.microsoft.com/office/drawing/2014/main" val="2246536521"/>
                    </a:ext>
                  </a:extLst>
                </a:gridCol>
                <a:gridCol w="2882069">
                  <a:extLst>
                    <a:ext uri="{9D8B030D-6E8A-4147-A177-3AD203B41FA5}">
                      <a16:colId xmlns:a16="http://schemas.microsoft.com/office/drawing/2014/main" val="3343903442"/>
                    </a:ext>
                  </a:extLst>
                </a:gridCol>
                <a:gridCol w="2961865">
                  <a:extLst>
                    <a:ext uri="{9D8B030D-6E8A-4147-A177-3AD203B41FA5}">
                      <a16:colId xmlns:a16="http://schemas.microsoft.com/office/drawing/2014/main" val="422251080"/>
                    </a:ext>
                  </a:extLst>
                </a:gridCol>
                <a:gridCol w="2785337">
                  <a:extLst>
                    <a:ext uri="{9D8B030D-6E8A-4147-A177-3AD203B41FA5}">
                      <a16:colId xmlns:a16="http://schemas.microsoft.com/office/drawing/2014/main" val="1633466939"/>
                    </a:ext>
                  </a:extLst>
                </a:gridCol>
              </a:tblGrid>
              <a:tr h="406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분야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이번주 한 일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차주 계획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이슈사항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19638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AI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AI</a:t>
                      </a:r>
                      <a:r>
                        <a:rPr lang="en-US" altLang="ko-KR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</a:t>
                      </a:r>
                      <a:r>
                        <a:rPr lang="ko-KR" altLang="en-US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기능 아이디어 도출</a:t>
                      </a: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관련 데이터 찾기</a:t>
                      </a:r>
                      <a:r>
                        <a:rPr lang="en-US" altLang="ko-KR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공공기관</a:t>
                      </a:r>
                      <a:r>
                        <a:rPr lang="en-US" altLang="ko-KR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AI</a:t>
                      </a:r>
                      <a:r>
                        <a:rPr lang="en-US" altLang="ko-KR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</a:t>
                      </a:r>
                      <a:r>
                        <a:rPr lang="ko-KR" altLang="en-US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모델 탐색 및 테스트</a:t>
                      </a:r>
                      <a:endParaRPr lang="en-US" altLang="ko-KR" sz="14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추가 데이터 확보</a:t>
                      </a:r>
                      <a:endParaRPr lang="ko-KR" altLang="en-US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데이터</a:t>
                      </a:r>
                      <a:r>
                        <a:rPr lang="ko-KR" altLang="en-US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양이 적어서 추가 </a:t>
                      </a: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데이터 제작</a:t>
                      </a:r>
                      <a:r>
                        <a:rPr lang="en-US" altLang="ko-KR" sz="14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 </a:t>
                      </a:r>
                      <a:r>
                        <a:rPr lang="ko-KR" altLang="en-US" sz="14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고민 중</a:t>
                      </a: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688119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Web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19532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나눔스퀘어 ExtraBold" panose="020B0600000101010101" pitchFamily="50" charset="-127"/>
                          <a:ea typeface="나눔스퀘어 ExtraBold"/>
                        </a:rPr>
                        <a:t>BackEnd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91691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26094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발표 및 자료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52156"/>
                  </a:ext>
                </a:extLst>
              </a:tr>
            </a:tbl>
          </a:graphicData>
        </a:graphic>
      </p:graphicFrame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Weekly Scrum Template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주차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28F67F-293E-6326-E435-D58F695AAC5B}"/>
              </a:ext>
            </a:extLst>
          </p:cNvPr>
          <p:cNvSpPr/>
          <p:nvPr/>
        </p:nvSpPr>
        <p:spPr>
          <a:xfrm>
            <a:off x="1428969" y="1736106"/>
            <a:ext cx="763145" cy="308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2921270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조별 과제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9" name="Google Shape;516;g1b5d807d25a_29_172">
            <a:extLst>
              <a:ext uri="{FF2B5EF4-FFF2-40B4-BE49-F238E27FC236}">
                <a16:creationId xmlns:a16="http://schemas.microsoft.com/office/drawing/2014/main" id="{ECDE141D-6BC3-1C26-CFA6-04661EC5AB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8871001"/>
              </p:ext>
            </p:extLst>
          </p:nvPr>
        </p:nvGraphicFramePr>
        <p:xfrm>
          <a:off x="696000" y="1271525"/>
          <a:ext cx="10800000" cy="535770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94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7829">
                  <a:extLst>
                    <a:ext uri="{9D8B030D-6E8A-4147-A177-3AD203B41FA5}">
                      <a16:colId xmlns:a16="http://schemas.microsoft.com/office/drawing/2014/main" val="3154290821"/>
                    </a:ext>
                  </a:extLst>
                </a:gridCol>
                <a:gridCol w="2932171">
                  <a:extLst>
                    <a:ext uri="{9D8B030D-6E8A-4147-A177-3AD203B41FA5}">
                      <a16:colId xmlns:a16="http://schemas.microsoft.com/office/drawing/2014/main" val="1597570642"/>
                    </a:ext>
                  </a:extLst>
                </a:gridCol>
              </a:tblGrid>
              <a:tr h="3787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반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/</a:t>
                      </a: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</a:t>
                      </a:r>
                      <a:endParaRPr sz="14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수도권 5반 13조</a:t>
                      </a:r>
                      <a:endParaRPr sz="140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선정 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BM</a:t>
                      </a:r>
                      <a:endParaRPr sz="16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altLang="en-US" sz="160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6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조원 성명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조장을 맨 앞에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10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err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과제명</a:t>
                      </a:r>
                      <a:endParaRPr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3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서비스 내용</a:t>
                      </a:r>
                      <a:br>
                        <a:rPr lang="ko-KR" altLang="en-US" sz="1400" b="1" u="none" strike="noStrike" cap="none">
                          <a:solidFill>
                            <a:srgbClr val="00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기능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기술 포함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52572"/>
                  </a:ext>
                </a:extLst>
              </a:tr>
              <a:tr h="4733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목표 고객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(B2B.B2G </a:t>
                      </a:r>
                      <a:r>
                        <a:rPr lang="ko-KR" altLang="en-US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대상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6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과제 선정 배경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8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활용 데이터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1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559410"/>
                  </a:ext>
                </a:extLst>
              </a:tr>
              <a:tr h="6329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기대 효과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1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680800"/>
                  </a:ext>
                </a:extLst>
              </a:tr>
            </a:tbl>
          </a:graphicData>
        </a:graphic>
      </p:graphicFrame>
      <p:sp>
        <p:nvSpPr>
          <p:cNvPr id="13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조별 과제 정의서 </a:t>
            </a: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854973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5;g1b5d807d25a_29_63">
            <a:extLst>
              <a:ext uri="{FF2B5EF4-FFF2-40B4-BE49-F238E27FC236}">
                <a16:creationId xmlns:a16="http://schemas.microsoft.com/office/drawing/2014/main" id="{938E3A06-C22A-3DE5-C688-D37030FB2272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조별 과제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64D3EF7-0C7C-8CE3-2CD6-44E1BF972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62370"/>
              </p:ext>
            </p:extLst>
          </p:nvPr>
        </p:nvGraphicFramePr>
        <p:xfrm>
          <a:off x="603101" y="923185"/>
          <a:ext cx="10955224" cy="2743210"/>
        </p:xfrm>
        <a:graphic>
          <a:graphicData uri="http://schemas.openxmlformats.org/drawingml/2006/table">
            <a:tbl>
              <a:tblPr firstRow="1" bandRow="1"/>
              <a:tblGrid>
                <a:gridCol w="1369403">
                  <a:extLst>
                    <a:ext uri="{9D8B030D-6E8A-4147-A177-3AD203B41FA5}">
                      <a16:colId xmlns:a16="http://schemas.microsoft.com/office/drawing/2014/main" val="1936137407"/>
                    </a:ext>
                  </a:extLst>
                </a:gridCol>
                <a:gridCol w="1387006">
                  <a:extLst>
                    <a:ext uri="{9D8B030D-6E8A-4147-A177-3AD203B41FA5}">
                      <a16:colId xmlns:a16="http://schemas.microsoft.com/office/drawing/2014/main" val="3776787363"/>
                    </a:ext>
                  </a:extLst>
                </a:gridCol>
                <a:gridCol w="1329179">
                  <a:extLst>
                    <a:ext uri="{9D8B030D-6E8A-4147-A177-3AD203B41FA5}">
                      <a16:colId xmlns:a16="http://schemas.microsoft.com/office/drawing/2014/main" val="367042655"/>
                    </a:ext>
                  </a:extLst>
                </a:gridCol>
                <a:gridCol w="1392024">
                  <a:extLst>
                    <a:ext uri="{9D8B030D-6E8A-4147-A177-3AD203B41FA5}">
                      <a16:colId xmlns:a16="http://schemas.microsoft.com/office/drawing/2014/main" val="367195795"/>
                    </a:ext>
                  </a:extLst>
                </a:gridCol>
                <a:gridCol w="1369403">
                  <a:extLst>
                    <a:ext uri="{9D8B030D-6E8A-4147-A177-3AD203B41FA5}">
                      <a16:colId xmlns:a16="http://schemas.microsoft.com/office/drawing/2014/main" val="268400443"/>
                    </a:ext>
                  </a:extLst>
                </a:gridCol>
                <a:gridCol w="1369403">
                  <a:extLst>
                    <a:ext uri="{9D8B030D-6E8A-4147-A177-3AD203B41FA5}">
                      <a16:colId xmlns:a16="http://schemas.microsoft.com/office/drawing/2014/main" val="2451950652"/>
                    </a:ext>
                  </a:extLst>
                </a:gridCol>
                <a:gridCol w="1369403">
                  <a:extLst>
                    <a:ext uri="{9D8B030D-6E8A-4147-A177-3AD203B41FA5}">
                      <a16:colId xmlns:a16="http://schemas.microsoft.com/office/drawing/2014/main" val="1420168771"/>
                    </a:ext>
                  </a:extLst>
                </a:gridCol>
                <a:gridCol w="1369403">
                  <a:extLst>
                    <a:ext uri="{9D8B030D-6E8A-4147-A177-3AD203B41FA5}">
                      <a16:colId xmlns:a16="http://schemas.microsoft.com/office/drawing/2014/main" val="2398252464"/>
                    </a:ext>
                  </a:extLst>
                </a:gridCol>
              </a:tblGrid>
              <a:tr h="265971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 err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조원별</a:t>
                      </a:r>
                      <a:endParaRPr lang="ko-KR" altLang="en-US" sz="1400" b="1" u="none" strike="noStrike" cap="none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u="none" strike="noStrike" cap="none">
                          <a:solidFill>
                            <a:schemeClr val="bg1"/>
                          </a:solidFill>
                          <a:latin typeface="나눔스퀘어 ExtraBold"/>
                          <a:ea typeface="나눔스퀘어 ExtraBold" panose="020B0600000101010101" pitchFamily="50" charset="-127"/>
                        </a:rPr>
                        <a:t>R&amp;R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err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조원명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FE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BE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데이터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모델링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영상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ppt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404218"/>
                  </a:ext>
                </a:extLst>
              </a:tr>
              <a:tr h="2630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415464"/>
                  </a:ext>
                </a:extLst>
              </a:tr>
              <a:tr h="2630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50992"/>
                  </a:ext>
                </a:extLst>
              </a:tr>
              <a:tr h="2630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109387"/>
                  </a:ext>
                </a:extLst>
              </a:tr>
              <a:tr h="2630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750911"/>
                  </a:ext>
                </a:extLst>
              </a:tr>
              <a:tr h="2630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095922"/>
                  </a:ext>
                </a:extLst>
              </a:tr>
              <a:tr h="26307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400" b="1" u="none" strike="noStrike" cap="none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640985"/>
                  </a:ext>
                </a:extLst>
              </a:tr>
              <a:tr h="26307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400" b="1" u="none" strike="noStrike" cap="none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02442"/>
                  </a:ext>
                </a:extLst>
              </a:tr>
              <a:tr h="26307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400" b="1" u="none" strike="noStrike" cap="none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95459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674573-304E-8C4D-9A35-C147431A6E36}"/>
              </a:ext>
            </a:extLst>
          </p:cNvPr>
          <p:cNvGraphicFramePr>
            <a:graphicFrameLocks noGrp="1"/>
          </p:cNvGraphicFramePr>
          <p:nvPr/>
        </p:nvGraphicFramePr>
        <p:xfrm>
          <a:off x="603099" y="3772404"/>
          <a:ext cx="10955226" cy="2777517"/>
        </p:xfrm>
        <a:graphic>
          <a:graphicData uri="http://schemas.openxmlformats.org/drawingml/2006/table">
            <a:tbl>
              <a:tblPr firstRow="1" bandRow="1"/>
              <a:tblGrid>
                <a:gridCol w="1378607">
                  <a:extLst>
                    <a:ext uri="{9D8B030D-6E8A-4147-A177-3AD203B41FA5}">
                      <a16:colId xmlns:a16="http://schemas.microsoft.com/office/drawing/2014/main" val="1936137407"/>
                    </a:ext>
                  </a:extLst>
                </a:gridCol>
                <a:gridCol w="845573">
                  <a:extLst>
                    <a:ext uri="{9D8B030D-6E8A-4147-A177-3AD203B41FA5}">
                      <a16:colId xmlns:a16="http://schemas.microsoft.com/office/drawing/2014/main" val="3776787363"/>
                    </a:ext>
                  </a:extLst>
                </a:gridCol>
                <a:gridCol w="3775587">
                  <a:extLst>
                    <a:ext uri="{9D8B030D-6E8A-4147-A177-3AD203B41FA5}">
                      <a16:colId xmlns:a16="http://schemas.microsoft.com/office/drawing/2014/main" val="367042655"/>
                    </a:ext>
                  </a:extLst>
                </a:gridCol>
                <a:gridCol w="1303717">
                  <a:extLst>
                    <a:ext uri="{9D8B030D-6E8A-4147-A177-3AD203B41FA5}">
                      <a16:colId xmlns:a16="http://schemas.microsoft.com/office/drawing/2014/main" val="367195795"/>
                    </a:ext>
                  </a:extLst>
                </a:gridCol>
                <a:gridCol w="2343006">
                  <a:extLst>
                    <a:ext uri="{9D8B030D-6E8A-4147-A177-3AD203B41FA5}">
                      <a16:colId xmlns:a16="http://schemas.microsoft.com/office/drawing/2014/main" val="268400443"/>
                    </a:ext>
                  </a:extLst>
                </a:gridCol>
                <a:gridCol w="1308736">
                  <a:extLst>
                    <a:ext uri="{9D8B030D-6E8A-4147-A177-3AD203B41FA5}">
                      <a16:colId xmlns:a16="http://schemas.microsoft.com/office/drawing/2014/main" val="2451950652"/>
                    </a:ext>
                  </a:extLst>
                </a:gridCol>
              </a:tblGrid>
              <a:tr h="308613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 err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주차별</a:t>
                      </a:r>
                      <a:r>
                        <a:rPr lang="ko-KR" altLang="en-US" sz="1400" b="1" u="none" strike="noStrike" cap="none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세부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수행 과업</a:t>
                      </a:r>
                      <a:endParaRPr sz="1400" b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일정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기한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주요활동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비고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404218"/>
                  </a:ext>
                </a:extLst>
              </a:tr>
              <a:tr h="308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415464"/>
                  </a:ext>
                </a:extLst>
              </a:tr>
              <a:tr h="308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  <a:endParaRPr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999554"/>
                  </a:ext>
                </a:extLst>
              </a:tr>
              <a:tr h="308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50992"/>
                  </a:ext>
                </a:extLst>
              </a:tr>
              <a:tr h="308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4</a:t>
                      </a: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  <a:endParaRPr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109387"/>
                  </a:ext>
                </a:extLst>
              </a:tr>
              <a:tr h="308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5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750911"/>
                  </a:ext>
                </a:extLst>
              </a:tr>
              <a:tr h="308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6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095922"/>
                  </a:ext>
                </a:extLst>
              </a:tr>
              <a:tr h="3086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400" b="1" u="none" strike="noStrike" cap="none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7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05004"/>
                  </a:ext>
                </a:extLst>
              </a:tr>
              <a:tr h="3086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400" b="1" u="none" strike="noStrike" cap="none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8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주차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65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89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조별 과제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9" name="Google Shape;516;g1b5d807d25a_29_172">
            <a:extLst>
              <a:ext uri="{FF2B5EF4-FFF2-40B4-BE49-F238E27FC236}">
                <a16:creationId xmlns:a16="http://schemas.microsoft.com/office/drawing/2014/main" id="{ECDE141D-6BC3-1C26-CFA6-04661EC5AB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805775"/>
              </p:ext>
            </p:extLst>
          </p:nvPr>
        </p:nvGraphicFramePr>
        <p:xfrm>
          <a:off x="696000" y="1271525"/>
          <a:ext cx="10800000" cy="511964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94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7829">
                  <a:extLst>
                    <a:ext uri="{9D8B030D-6E8A-4147-A177-3AD203B41FA5}">
                      <a16:colId xmlns:a16="http://schemas.microsoft.com/office/drawing/2014/main" val="3154290821"/>
                    </a:ext>
                  </a:extLst>
                </a:gridCol>
                <a:gridCol w="2932171">
                  <a:extLst>
                    <a:ext uri="{9D8B030D-6E8A-4147-A177-3AD203B41FA5}">
                      <a16:colId xmlns:a16="http://schemas.microsoft.com/office/drawing/2014/main" val="1597570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반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/</a:t>
                      </a: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</a:t>
                      </a:r>
                      <a:endParaRPr sz="14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수도권 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0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반 13조</a:t>
                      </a:r>
                      <a:endParaRPr sz="140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선정 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BM</a:t>
                      </a:r>
                      <a:endParaRPr sz="16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안전서비스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산업안전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altLang="en-US" sz="140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조원 성명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조장을 맨 앞에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과제명</a:t>
                      </a:r>
                      <a:endParaRPr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멀티모달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기반 </a:t>
                      </a:r>
                      <a:r>
                        <a:rPr lang="en-US" altLang="ko-KR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AI 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스마트 </a:t>
                      </a:r>
                      <a:r>
                        <a:rPr lang="ko-KR" altLang="en-US" sz="1000" u="none" strike="noStrike" cap="none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운송장치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000" u="none" strike="noStrike" cap="none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예지보전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시스템</a:t>
                      </a:r>
                      <a:endParaRPr sz="1000" u="none" strike="noStrike" cap="none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3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서비스 내용</a:t>
                      </a:r>
                      <a:br>
                        <a:rPr lang="ko-KR" altLang="en-US" sz="1400" b="1" u="none" strike="noStrike" cap="none">
                          <a:solidFill>
                            <a:srgbClr val="00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기능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기술 포함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ㅇ장비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상태 예측</a:t>
                      </a:r>
                      <a:endParaRPr lang="en-US" altLang="ko-KR" sz="1000" u="none" strike="noStrike" cap="none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u="none" strike="noStrike" cap="none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멀티모달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기반 </a:t>
                      </a:r>
                      <a:r>
                        <a:rPr lang="ko-KR" altLang="en-US" sz="1000" u="none" strike="noStrike" cap="none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딥러닝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기술을 활용한 장비 고장 예측</a:t>
                      </a:r>
                      <a:endParaRPr lang="en-US" altLang="ko-KR" sz="1000" u="none" strike="noStrike" cap="none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장비 센서</a:t>
                      </a:r>
                      <a:r>
                        <a:rPr lang="en-US" altLang="ko-KR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이미지 데이터 및 외부 환경 데이터를 통합하여 </a:t>
                      </a:r>
                      <a:r>
                        <a:rPr lang="ko-KR" altLang="en-US" sz="1000" u="none" strike="noStrike" cap="none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멀티모달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분석을 통한 이상 징후 조기 감지</a:t>
                      </a:r>
                      <a:endParaRPr lang="en-US" altLang="ko-KR" sz="1000" u="none" strike="noStrike" cap="none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최적 운영 조건 도출 및 예방적 유지보수 제안</a:t>
                      </a:r>
                      <a:endParaRPr lang="en-US" altLang="ko-KR" sz="1000" u="none" strike="noStrike" cap="none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u="none" strike="noStrike" cap="none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ㅇ</a:t>
                      </a: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모니터링 시스템</a:t>
                      </a:r>
                      <a:endParaRPr lang="en-US" altLang="ko-KR" sz="1000" u="none" strike="noStrike" cap="none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기기 상태 및</a:t>
                      </a:r>
                      <a:r>
                        <a:rPr lang="ko-KR" alt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성능 지표의 통합적 시각화</a:t>
                      </a:r>
                      <a:endParaRPr lang="en-US" altLang="ko-KR" sz="1000" u="none" strike="noStrike" cap="none" baseline="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u="none" strike="noStrike" cap="none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멀티모달</a:t>
                      </a:r>
                      <a:r>
                        <a:rPr lang="ko-KR" alt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센서 데이터 실시간 분석 및 표시</a:t>
                      </a:r>
                      <a:endParaRPr lang="en-US" altLang="ko-KR" sz="1000" u="none" strike="noStrike" cap="none" baseline="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위험 센서 상태 및 추이 시각화</a:t>
                      </a:r>
                      <a:endParaRPr lang="en-US" altLang="ko-KR" sz="1000" u="none" strike="noStrike" cap="none" baseline="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u="none" strike="noStrike" cap="none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ㅇ</a:t>
                      </a:r>
                      <a:r>
                        <a:rPr lang="ko-KR" alt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000" u="none" strike="noStrike" cap="none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챗봇</a:t>
                      </a:r>
                      <a:endParaRPr lang="en-US" altLang="ko-KR" sz="1000" u="none" strike="noStrike" cap="none" baseline="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     AI </a:t>
                      </a:r>
                      <a:r>
                        <a:rPr lang="ko-KR" alt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기반 </a:t>
                      </a:r>
                      <a:r>
                        <a:rPr lang="ko-KR" altLang="en-US" sz="1000" u="none" strike="noStrike" cap="none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챗봇을</a:t>
                      </a:r>
                      <a:r>
                        <a:rPr lang="ko-KR" alt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통한 설비 운영 가이드 제공</a:t>
                      </a:r>
                      <a:endParaRPr lang="en-US" altLang="ko-KR" sz="1000" u="none" strike="noStrike" cap="none" baseline="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  문제 발생시 즉각적인 원인 분석 및 해결방안 제시</a:t>
                      </a:r>
                      <a:endParaRPr lang="en-US" altLang="ko-KR" sz="1000" u="none" strike="noStrike" cap="none" baseline="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  장비 매뉴얼 및 유지 보수 지침 실시간 조회</a:t>
                      </a:r>
                      <a:endParaRPr sz="1000" u="none" strike="noStrike" cap="none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52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목표 고객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(B2B.B2G </a:t>
                      </a:r>
                      <a:r>
                        <a:rPr lang="ko-KR" altLang="en-US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대상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B2B</a:t>
                      </a:r>
                      <a:r>
                        <a:rPr lang="ko-KR" altLang="en-US" sz="1000" b="1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en-US" altLang="ko-KR" sz="1000" b="1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000" b="1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삼성전자</a:t>
                      </a:r>
                      <a:r>
                        <a:rPr lang="en-US" altLang="ko-KR" sz="1000" b="1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SK, </a:t>
                      </a:r>
                      <a:r>
                        <a:rPr lang="ko-KR" altLang="en-US" sz="1000" b="1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하이닉스</a:t>
                      </a:r>
                      <a:r>
                        <a:rPr lang="en-US" altLang="ko-KR" sz="1000" b="1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000" b="1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현대자동차 등</a:t>
                      </a:r>
                      <a:r>
                        <a:rPr lang="en-US" altLang="ko-KR" sz="1000" b="1" u="none" strike="noStrike" cap="none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sz="1000" u="none" strike="noStrike" cap="none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과제 선정 배경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컨베이어 벨트와 같은 기존 </a:t>
                      </a:r>
                      <a:r>
                        <a:rPr lang="ko-KR" altLang="en-US" sz="100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제조산업의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00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비유연적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설비환경에서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OHT, AGV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와 같은 첨단기술을 활용한 환경 변화가 가속화</a:t>
                      </a:r>
                      <a:endParaRPr lang="en-US" altLang="ko-KR" sz="10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→ 유연한 생산 환경 구현과 제조업 경쟁력 강화를 위해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OHT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와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AGV 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각각 특화된 </a:t>
                      </a:r>
                      <a:r>
                        <a:rPr lang="ko-KR" altLang="en-US" sz="100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예지보전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시스템</a:t>
                      </a:r>
                      <a:r>
                        <a:rPr lang="ko-KR" altLang="en-US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구축 필요</a:t>
                      </a: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8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활용 데이터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(AI HUB)</a:t>
                      </a:r>
                      <a:r>
                        <a:rPr lang="en-US" altLang="ko-KR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000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제조현장</a:t>
                      </a:r>
                      <a:r>
                        <a:rPr lang="ko-KR" altLang="en-US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000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이송장치의</a:t>
                      </a:r>
                      <a:r>
                        <a:rPr lang="ko-KR" altLang="en-US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열화 </a:t>
                      </a:r>
                      <a:r>
                        <a:rPr lang="ko-KR" altLang="en-US" sz="1000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예지보전</a:t>
                      </a:r>
                      <a:r>
                        <a:rPr lang="ko-KR" altLang="en-US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000" baseline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멀티모달</a:t>
                      </a:r>
                      <a:r>
                        <a:rPr lang="ko-KR" altLang="en-US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데이터</a:t>
                      </a:r>
                      <a:endParaRPr lang="ko-KR" altLang="en-US" sz="10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→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링크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자체 제작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) </a:t>
                      </a:r>
                      <a:r>
                        <a:rPr lang="ko-KR" altLang="en-US" sz="1000" err="1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챗봇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, QA,</a:t>
                      </a:r>
                      <a:r>
                        <a:rPr lang="en-US" altLang="ko-KR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데이터 </a:t>
                      </a:r>
                      <a:endParaRPr lang="en-US" altLang="ko-KR" sz="1000" baseline="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559410"/>
                  </a:ext>
                </a:extLst>
              </a:tr>
              <a:tr h="6329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기대 효과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  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정확도 및 신뢰성 향상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: 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다중 센서 데이터를 통해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AI 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모델의 예측 정확도를 높여 제조 공정의 안전성과 생산성을 강화</a:t>
                      </a:r>
                      <a:endParaRPr lang="en-US" altLang="ko-KR" sz="10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경제적 효과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고장 예측을 통해 유지보수 비용을 절감하고 설비 가동 시간을 최적화하여 경제적 효과를 극대화</a:t>
                      </a:r>
                      <a:endParaRPr lang="en-US" altLang="ko-KR" sz="100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비즈니스 효과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: AI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가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90% 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정확도로 고장을 예측하면 선제적 관리로 하루 약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80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만원의 이익 창출</a:t>
                      </a:r>
                      <a:endParaRPr lang="en-US" altLang="ko-KR" sz="100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고장 및 사고 예방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실시간 센서 데이터를 분석하여 기기의 고장을 예방하고 다운 타임을 줄여 효율 극대화</a:t>
                      </a:r>
                      <a:endParaRPr lang="en-US" altLang="ko-KR" sz="100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효율적인 문제 해결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000" err="1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챗봇</a:t>
                      </a: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 서비스를 통해 관리자나 실제 작업자가 빠르고 정확하게 문제 해결</a:t>
                      </a:r>
                      <a:endParaRPr lang="en-US" altLang="ko-KR" sz="100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보고서 자동화 </a:t>
                      </a:r>
                      <a:r>
                        <a:rPr lang="en-US" altLang="ko-KR" sz="100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: GPT-3.5</a:t>
                      </a:r>
                      <a:r>
                        <a:rPr lang="en-US" altLang="ko-KR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 API</a:t>
                      </a:r>
                      <a:r>
                        <a:rPr lang="ko-KR" altLang="en-US" sz="1000" baseline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를 활용해 보고서 작성을 자동화하여 업무 효율성 증대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680800"/>
                  </a:ext>
                </a:extLst>
              </a:tr>
            </a:tbl>
          </a:graphicData>
        </a:graphic>
      </p:graphicFrame>
      <p:sp>
        <p:nvSpPr>
          <p:cNvPr id="13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조별 과제 정의서 </a:t>
            </a: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Template</a:t>
            </a:r>
          </a:p>
        </p:txBody>
      </p:sp>
      <p:sp>
        <p:nvSpPr>
          <p:cNvPr id="7" name="사각형: 둥근 모서리 1">
            <a:extLst>
              <a:ext uri="{FF2B5EF4-FFF2-40B4-BE49-F238E27FC236}">
                <a16:creationId xmlns:a16="http://schemas.microsoft.com/office/drawing/2014/main" id="{9516F460-FE4A-FAAA-0DEC-66AB4F33C2BC}"/>
              </a:ext>
            </a:extLst>
          </p:cNvPr>
          <p:cNvSpPr/>
          <p:nvPr/>
        </p:nvSpPr>
        <p:spPr>
          <a:xfrm>
            <a:off x="5025614" y="99124"/>
            <a:ext cx="2140772" cy="493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예시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5A3DE0-4928-528D-54DA-F9A3928ED92F}"/>
              </a:ext>
            </a:extLst>
          </p:cNvPr>
          <p:cNvSpPr/>
          <p:nvPr/>
        </p:nvSpPr>
        <p:spPr>
          <a:xfrm>
            <a:off x="10318998" y="982235"/>
            <a:ext cx="1584959" cy="2892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BM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 택일</a:t>
            </a:r>
            <a:endParaRPr lang="ko-KR" altLang="en-US" sz="1600" b="1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4F042F-59FE-D576-1DBD-4945E1253C34}"/>
              </a:ext>
            </a:extLst>
          </p:cNvPr>
          <p:cNvSpPr/>
          <p:nvPr/>
        </p:nvSpPr>
        <p:spPr>
          <a:xfrm>
            <a:off x="9374168" y="4853010"/>
            <a:ext cx="2432383" cy="4848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외부데이터</a:t>
            </a:r>
            <a:r>
              <a:rPr lang="en-US" altLang="ko-KR" sz="14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자체제작데이터</a:t>
            </a:r>
            <a:endParaRPr lang="en-US" altLang="ko-KR" sz="1400" b="1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모두 작성</a:t>
            </a:r>
            <a:endParaRPr lang="ko-KR" altLang="en-US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4A6627-5D78-49D1-8B4C-E46ED4B527A1}"/>
              </a:ext>
            </a:extLst>
          </p:cNvPr>
          <p:cNvSpPr/>
          <p:nvPr/>
        </p:nvSpPr>
        <p:spPr>
          <a:xfrm>
            <a:off x="9374168" y="5495523"/>
            <a:ext cx="2582043" cy="5247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성과창출 </a:t>
            </a:r>
            <a:r>
              <a:rPr lang="en-US" altLang="ko-KR" sz="14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_As is To Be </a:t>
            </a:r>
            <a:r>
              <a:rPr lang="ko-KR" altLang="en-US" sz="14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가능</a:t>
            </a:r>
            <a:endParaRPr lang="en-US" altLang="ko-KR" sz="1400" b="1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0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매출향상</a:t>
            </a:r>
            <a:r>
              <a:rPr lang="en-US" altLang="ko-KR" sz="10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프로세스효율화</a:t>
            </a:r>
            <a:r>
              <a:rPr lang="en-US" altLang="ko-KR" sz="10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고객창출 등</a:t>
            </a:r>
            <a:r>
              <a:rPr lang="en-US" altLang="ko-KR" sz="10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52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g1b5d807d25a_29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05;g1b5d807d25a_29_63">
            <a:extLst>
              <a:ext uri="{FF2B5EF4-FFF2-40B4-BE49-F238E27FC236}">
                <a16:creationId xmlns:a16="http://schemas.microsoft.com/office/drawing/2014/main" id="{FE6C1E65-B138-A1CE-048E-FC113C3B37ED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요구사항 정의서 예시 </a:t>
            </a: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(</a:t>
            </a: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요구사항 정의서는 엑셀 양식을 사용합니다</a:t>
            </a: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93" y="1836335"/>
            <a:ext cx="11645864" cy="383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9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88">
            <a:extLst>
              <a:ext uri="{FF2B5EF4-FFF2-40B4-BE49-F238E27FC236}">
                <a16:creationId xmlns:a16="http://schemas.microsoft.com/office/drawing/2014/main" id="{56268E0F-6747-4F61-A418-66810668A057}"/>
              </a:ext>
            </a:extLst>
          </p:cNvPr>
          <p:cNvGraphicFramePr>
            <a:graphicFrameLocks noGrp="1"/>
          </p:cNvGraphicFramePr>
          <p:nvPr/>
        </p:nvGraphicFramePr>
        <p:xfrm>
          <a:off x="428821" y="1312826"/>
          <a:ext cx="11283906" cy="5197335"/>
        </p:xfrm>
        <a:graphic>
          <a:graphicData uri="http://schemas.openxmlformats.org/drawingml/2006/table">
            <a:tbl>
              <a:tblPr/>
              <a:tblGrid>
                <a:gridCol w="11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28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아키텍처 정의서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3407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28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27" name="Google Shape;427;g1b5d807d25a_29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05;g1b5d807d25a_29_63">
            <a:extLst>
              <a:ext uri="{FF2B5EF4-FFF2-40B4-BE49-F238E27FC236}">
                <a16:creationId xmlns:a16="http://schemas.microsoft.com/office/drawing/2014/main" id="{1D5A9883-53D3-C1C6-6637-063A92667109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아키텍처 정의서 </a:t>
            </a:r>
            <a:endParaRPr lang="en-US" altLang="ko-KR" sz="1600" b="1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8291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1EA394E8-90E4-A665-7563-98D2D406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Group 188">
            <a:extLst>
              <a:ext uri="{FF2B5EF4-FFF2-40B4-BE49-F238E27FC236}">
                <a16:creationId xmlns:a16="http://schemas.microsoft.com/office/drawing/2014/main" id="{56268E0F-6747-4F61-A418-66810668A057}"/>
              </a:ext>
            </a:extLst>
          </p:cNvPr>
          <p:cNvGraphicFramePr>
            <a:graphicFrameLocks noGrp="1"/>
          </p:cNvGraphicFramePr>
          <p:nvPr/>
        </p:nvGraphicFramePr>
        <p:xfrm>
          <a:off x="428821" y="1312826"/>
          <a:ext cx="11283906" cy="5197335"/>
        </p:xfrm>
        <a:graphic>
          <a:graphicData uri="http://schemas.openxmlformats.org/drawingml/2006/table">
            <a:tbl>
              <a:tblPr/>
              <a:tblGrid>
                <a:gridCol w="11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28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아키텍처 정의서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3407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28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" name="사각형: 둥근 모서리 1">
            <a:extLst>
              <a:ext uri="{FF2B5EF4-FFF2-40B4-BE49-F238E27FC236}">
                <a16:creationId xmlns:a16="http://schemas.microsoft.com/office/drawing/2014/main" id="{9516F460-FE4A-FAAA-0DEC-66AB4F33C2BC}"/>
              </a:ext>
            </a:extLst>
          </p:cNvPr>
          <p:cNvSpPr/>
          <p:nvPr/>
        </p:nvSpPr>
        <p:spPr>
          <a:xfrm>
            <a:off x="5025614" y="99124"/>
            <a:ext cx="2140772" cy="493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예시</a:t>
            </a:r>
          </a:p>
        </p:txBody>
      </p:sp>
      <p:pic>
        <p:nvPicPr>
          <p:cNvPr id="427" name="Google Shape;427;g1b5d807d25a_29_83">
            <a:extLst>
              <a:ext uri="{FF2B5EF4-FFF2-40B4-BE49-F238E27FC236}">
                <a16:creationId xmlns:a16="http://schemas.microsoft.com/office/drawing/2014/main" id="{CF59672D-20E2-9EF2-595F-66A8034197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05;g1b5d807d25a_29_63">
            <a:extLst>
              <a:ext uri="{FF2B5EF4-FFF2-40B4-BE49-F238E27FC236}">
                <a16:creationId xmlns:a16="http://schemas.microsoft.com/office/drawing/2014/main" id="{2F1B40DA-1B63-72BF-1E53-84B801A5454D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아키텍처 정의서</a:t>
            </a: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(Type1)</a:t>
            </a: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 예시</a:t>
            </a:r>
            <a:endParaRPr lang="en-US" altLang="ko-KR" sz="1600" b="1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868101" y="1803687"/>
            <a:ext cx="3692843" cy="4580232"/>
            <a:chOff x="868101" y="1655050"/>
            <a:chExt cx="3692843" cy="4580232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868101" y="2277293"/>
              <a:ext cx="3692843" cy="3769156"/>
            </a:xfrm>
            <a:prstGeom prst="roundRect">
              <a:avLst>
                <a:gd name="adj" fmla="val 10247"/>
              </a:avLst>
            </a:prstGeom>
            <a:noFill/>
            <a:ln>
              <a:solidFill>
                <a:srgbClr val="00BC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모서리가 둥근 직사각형 1"/>
            <p:cNvSpPr/>
            <p:nvPr/>
          </p:nvSpPr>
          <p:spPr>
            <a:xfrm>
              <a:off x="1027235" y="2447604"/>
              <a:ext cx="3405869" cy="2483211"/>
            </a:xfrm>
            <a:prstGeom prst="roundRect">
              <a:avLst>
                <a:gd name="adj" fmla="val 14394"/>
              </a:avLst>
            </a:prstGeom>
            <a:noFill/>
            <a:ln>
              <a:solidFill>
                <a:srgbClr val="6DB33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76734" y="1655050"/>
              <a:ext cx="190686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Presentation Tier</a:t>
              </a:r>
            </a:p>
            <a:p>
              <a:pPr algn="ctr"/>
              <a:r>
                <a:rPr lang="en-US" altLang="ko-KR" sz="160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(Web)</a:t>
              </a:r>
              <a:endParaRPr lang="ko-KR" altLang="en-US" sz="160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pic>
          <p:nvPicPr>
            <p:cNvPr id="1026" name="Picture 2" descr="HTML beginner's tutorial: Build a webpage from scratch with HTM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5036" y="2773969"/>
              <a:ext cx="639937" cy="6399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SS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27" r="19546"/>
            <a:stretch/>
          </p:blipFill>
          <p:spPr bwMode="auto">
            <a:xfrm>
              <a:off x="2194245" y="2753512"/>
              <a:ext cx="675091" cy="6603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JavaScript Logo, symbol, meaning, history, PNG, brand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77" r="17651" b="-3245"/>
            <a:stretch/>
          </p:blipFill>
          <p:spPr bwMode="auto">
            <a:xfrm>
              <a:off x="2813426" y="2757875"/>
              <a:ext cx="750227" cy="648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Docker Logo (PNG e SVG) Download Vetorial Transparente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9430" y="5444627"/>
              <a:ext cx="586782" cy="492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Azure Icon #165828 - Free Icons Library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711" y="5714672"/>
              <a:ext cx="911068" cy="52061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50" name="Picture 26" descr="File:Spring Framework Logo Wikimedia Commons, 52% OFF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5327" y="4529540"/>
              <a:ext cx="932964" cy="9329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Apache Tomcat Logo Png Clipart 5197904 Pinclipart | Images and Photos ...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0219" y="4241347"/>
              <a:ext cx="592591" cy="592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모서리가 둥근 직사각형 47"/>
            <p:cNvSpPr/>
            <p:nvPr/>
          </p:nvSpPr>
          <p:spPr>
            <a:xfrm>
              <a:off x="1360719" y="2600003"/>
              <a:ext cx="2423316" cy="127697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1923501" y="3626957"/>
              <a:ext cx="686717" cy="614463"/>
              <a:chOff x="-744656" y="1869506"/>
              <a:chExt cx="646076" cy="578098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-744656" y="1869506"/>
                <a:ext cx="646076" cy="5780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32" name="Picture 8" descr="React Logo, Component, Framework, Library, Modern PN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28006" y="1869507"/>
                <a:ext cx="578097" cy="578097"/>
              </a:xfrm>
              <a:prstGeom prst="rect">
                <a:avLst/>
              </a:prstGeom>
              <a:noFill/>
            </p:spPr>
          </p:pic>
        </p:grpSp>
        <p:pic>
          <p:nvPicPr>
            <p:cNvPr id="1052" name="Picture 28" descr="Azure DevOps Logo, symbol, meaning, history, PNG, brand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0839" y="5516755"/>
              <a:ext cx="836611" cy="470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Download Java Logo in SVG Vector or PNG File Format - Logo.wine"/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66" t="12267" r="32278" b="12533"/>
            <a:stretch/>
          </p:blipFill>
          <p:spPr bwMode="auto">
            <a:xfrm>
              <a:off x="1478907" y="4982466"/>
              <a:ext cx="326675" cy="506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그룹 27"/>
          <p:cNvGrpSpPr/>
          <p:nvPr/>
        </p:nvGrpSpPr>
        <p:grpSpPr>
          <a:xfrm>
            <a:off x="5158560" y="1738193"/>
            <a:ext cx="2911957" cy="4689263"/>
            <a:chOff x="5287996" y="1626338"/>
            <a:chExt cx="2911957" cy="4689263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5287996" y="2314378"/>
              <a:ext cx="2911957" cy="3771457"/>
            </a:xfrm>
            <a:prstGeom prst="roundRect">
              <a:avLst>
                <a:gd name="adj" fmla="val 6544"/>
              </a:avLst>
            </a:prstGeom>
            <a:noFill/>
            <a:ln>
              <a:solidFill>
                <a:srgbClr val="00BC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779911" y="1626338"/>
              <a:ext cx="17443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Application Tier</a:t>
              </a:r>
            </a:p>
            <a:p>
              <a:pPr algn="ctr"/>
              <a:r>
                <a:rPr lang="en-US" altLang="ko-KR" sz="160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(AI)</a:t>
              </a:r>
              <a:endParaRPr lang="ko-KR" altLang="en-US" sz="160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pic>
          <p:nvPicPr>
            <p:cNvPr id="1046" name="Picture 22" descr="Pytorch | Getting Started With Pytorch"/>
            <p:cNvPicPr>
              <a:picLocks noChangeAspect="1" noChangeArrowheads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31" t="-16804" r="6696" b="-35"/>
            <a:stretch/>
          </p:blipFill>
          <p:spPr bwMode="auto">
            <a:xfrm>
              <a:off x="5811444" y="4093803"/>
              <a:ext cx="995527" cy="266245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48" name="Picture 24" descr="OpenAI Logo, symbol, meaning, history, PNG, brand"/>
            <p:cNvPicPr>
              <a:picLocks noChangeAspect="1" noChangeArrowheads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524" b="21778"/>
            <a:stretch/>
          </p:blipFill>
          <p:spPr bwMode="auto">
            <a:xfrm>
              <a:off x="5939027" y="2901224"/>
              <a:ext cx="879919" cy="270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6" descr="Docker Logo (PNG e SVG) Download Vetorial Transparente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5481323"/>
              <a:ext cx="570546" cy="478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8" descr="Azure Icon #165828 - Free Icons Library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2394" y="5663833"/>
              <a:ext cx="1140594" cy="651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4" name="Picture 30" descr="Hugging Face - AI Infrastructure Alliance"/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64" t="25721" r="7321" b="25191"/>
            <a:stretch/>
          </p:blipFill>
          <p:spPr bwMode="auto">
            <a:xfrm>
              <a:off x="5990703" y="3493704"/>
              <a:ext cx="1378050" cy="287594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56" name="Picture 32" descr="Python的推荐版本及常用镜像源 豌豆高清 - PeaseHD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85"/>
            <a:stretch/>
          </p:blipFill>
          <p:spPr bwMode="auto">
            <a:xfrm>
              <a:off x="7283002" y="4978399"/>
              <a:ext cx="832538" cy="362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모서리가 둥근 직사각형 58"/>
            <p:cNvSpPr/>
            <p:nvPr/>
          </p:nvSpPr>
          <p:spPr>
            <a:xfrm>
              <a:off x="5495284" y="2447604"/>
              <a:ext cx="2494340" cy="2564663"/>
            </a:xfrm>
            <a:prstGeom prst="roundRect">
              <a:avLst>
                <a:gd name="adj" fmla="val 9426"/>
              </a:avLst>
            </a:prstGeom>
            <a:noFill/>
            <a:ln>
              <a:solidFill>
                <a:srgbClr val="0596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44" name="Picture 20" descr="FastAPI"/>
            <p:cNvPicPr>
              <a:picLocks noChangeAspect="1" noChangeArrowheads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85" t="14802" r="2065" b="22015"/>
            <a:stretch/>
          </p:blipFill>
          <p:spPr bwMode="auto">
            <a:xfrm>
              <a:off x="5779911" y="4809066"/>
              <a:ext cx="1388533" cy="338667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61" name="모서리가 둥근 직사각형 60"/>
            <p:cNvSpPr/>
            <p:nvPr/>
          </p:nvSpPr>
          <p:spPr>
            <a:xfrm>
              <a:off x="5803093" y="2748276"/>
              <a:ext cx="1268228" cy="507975"/>
            </a:xfrm>
            <a:prstGeom prst="roundRect">
              <a:avLst>
                <a:gd name="adj" fmla="val 10421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71331" y="2622460"/>
              <a:ext cx="47231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API</a:t>
              </a:r>
              <a:endParaRPr lang="ko-KR" altLang="en-US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8626049" y="1803687"/>
            <a:ext cx="2402022" cy="2852385"/>
            <a:chOff x="8668134" y="1655050"/>
            <a:chExt cx="2402022" cy="2852385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8668134" y="2294426"/>
              <a:ext cx="2402022" cy="1946921"/>
            </a:xfrm>
            <a:prstGeom prst="roundRect">
              <a:avLst>
                <a:gd name="adj" fmla="val 10421"/>
              </a:avLst>
            </a:prstGeom>
            <a:noFill/>
            <a:ln>
              <a:solidFill>
                <a:srgbClr val="00BC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327169" y="1655050"/>
              <a:ext cx="10839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Data Tier</a:t>
              </a:r>
            </a:p>
            <a:p>
              <a:pPr algn="ctr"/>
              <a:r>
                <a:rPr lang="en-US" altLang="ko-KR" sz="160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(DB)</a:t>
              </a:r>
              <a:endParaRPr lang="ko-KR" altLang="en-US" sz="160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pic>
          <p:nvPicPr>
            <p:cNvPr id="1062" name="Picture 38" descr="MySQL logo PNG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5230" y="2638723"/>
              <a:ext cx="871660" cy="8716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18" descr="Azure Icon #165828 - Free Icons Library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8191" y="3855667"/>
              <a:ext cx="1140594" cy="651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16" descr="Docker Logo (PNG e SVG) Download Vetorial Transparente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43569" y="3683366"/>
              <a:ext cx="570546" cy="478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32453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88">
            <a:extLst>
              <a:ext uri="{FF2B5EF4-FFF2-40B4-BE49-F238E27FC236}">
                <a16:creationId xmlns:a16="http://schemas.microsoft.com/office/drawing/2014/main" id="{56268E0F-6747-4F61-A418-66810668A057}"/>
              </a:ext>
            </a:extLst>
          </p:cNvPr>
          <p:cNvGraphicFramePr>
            <a:graphicFrameLocks noGrp="1"/>
          </p:cNvGraphicFramePr>
          <p:nvPr/>
        </p:nvGraphicFramePr>
        <p:xfrm>
          <a:off x="428821" y="1312826"/>
          <a:ext cx="11283906" cy="5197335"/>
        </p:xfrm>
        <a:graphic>
          <a:graphicData uri="http://schemas.openxmlformats.org/drawingml/2006/table">
            <a:tbl>
              <a:tblPr/>
              <a:tblGrid>
                <a:gridCol w="11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28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아키텍처 정의서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3407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28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27" name="Google Shape;427;g1b5d807d25a_29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05;g1b5d807d25a_29_63">
            <a:extLst>
              <a:ext uri="{FF2B5EF4-FFF2-40B4-BE49-F238E27FC236}">
                <a16:creationId xmlns:a16="http://schemas.microsoft.com/office/drawing/2014/main" id="{1D5A9883-53D3-C1C6-6637-063A92667109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아키텍처 정의서</a:t>
            </a: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(Type2)</a:t>
            </a: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 예시</a:t>
            </a:r>
            <a:endParaRPr lang="en-US" altLang="ko-KR" sz="1600" b="1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93" y="2034564"/>
            <a:ext cx="10896761" cy="4250936"/>
          </a:xfrm>
          <a:prstGeom prst="rect">
            <a:avLst/>
          </a:prstGeom>
        </p:spPr>
      </p:pic>
      <p:sp>
        <p:nvSpPr>
          <p:cNvPr id="11" name="사각형: 둥근 모서리 1">
            <a:extLst>
              <a:ext uri="{FF2B5EF4-FFF2-40B4-BE49-F238E27FC236}">
                <a16:creationId xmlns:a16="http://schemas.microsoft.com/office/drawing/2014/main" id="{9516F460-FE4A-FAAA-0DEC-66AB4F33C2BC}"/>
              </a:ext>
            </a:extLst>
          </p:cNvPr>
          <p:cNvSpPr/>
          <p:nvPr/>
        </p:nvSpPr>
        <p:spPr>
          <a:xfrm>
            <a:off x="5025614" y="99124"/>
            <a:ext cx="2140772" cy="493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250760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g1b5d807d25a_29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" name="Group 72"/>
          <p:cNvGraphicFramePr>
            <a:graphicFrameLocks noGrp="1"/>
          </p:cNvGraphicFramePr>
          <p:nvPr/>
        </p:nvGraphicFramePr>
        <p:xfrm>
          <a:off x="428821" y="1293921"/>
          <a:ext cx="11283905" cy="335518"/>
        </p:xfrm>
        <a:graphic>
          <a:graphicData uri="http://schemas.openxmlformats.org/drawingml/2006/table">
            <a:tbl>
              <a:tblPr/>
              <a:tblGrid>
                <a:gridCol w="206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서비스명</a:t>
                      </a:r>
                      <a:endParaRPr kumimoji="1" lang="ko-KR" altLang="en-US" sz="1600" b="0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44" marR="91444" marT="45839" marB="4583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en-US" sz="1600" b="0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44" marR="91444" marT="45839" marB="4583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Group 188">
            <a:extLst>
              <a:ext uri="{FF2B5EF4-FFF2-40B4-BE49-F238E27FC236}">
                <a16:creationId xmlns:a16="http://schemas.microsoft.com/office/drawing/2014/main" id="{56268E0F-6747-4F61-A418-66810668A057}"/>
              </a:ext>
            </a:extLst>
          </p:cNvPr>
          <p:cNvGraphicFramePr>
            <a:graphicFrameLocks noGrp="1"/>
          </p:cNvGraphicFramePr>
          <p:nvPr/>
        </p:nvGraphicFramePr>
        <p:xfrm>
          <a:off x="431274" y="1744249"/>
          <a:ext cx="11283906" cy="4807022"/>
        </p:xfrm>
        <a:graphic>
          <a:graphicData uri="http://schemas.openxmlformats.org/drawingml/2006/table">
            <a:tbl>
              <a:tblPr/>
              <a:tblGrid>
                <a:gridCol w="11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057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서비스 </a:t>
                      </a:r>
                      <a:r>
                        <a:rPr kumimoji="1" lang="ko-KR" altLang="en-US" sz="1600" b="1" i="0" u="none" strike="noStrike" cap="none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플로우</a:t>
                      </a:r>
                      <a:endParaRPr kumimoji="1" lang="ko-KR" altLang="en-US" sz="16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965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28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Google Shape;405;g1b5d807d25a_29_63">
            <a:extLst>
              <a:ext uri="{FF2B5EF4-FFF2-40B4-BE49-F238E27FC236}">
                <a16:creationId xmlns:a16="http://schemas.microsoft.com/office/drawing/2014/main" id="{CD166855-8906-C99A-D9FD-47D6B96C8D59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</a:t>
            </a:r>
            <a:r>
              <a:rPr lang="ko-KR" altLang="en-US" sz="2400" b="1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플로우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서비스 </a:t>
            </a:r>
            <a:r>
              <a:rPr lang="ko-KR" altLang="en-US" sz="1600" b="1" err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플로우</a:t>
            </a:r>
            <a:endParaRPr lang="en-US" altLang="ko-KR" sz="1600" b="1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758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g1b5d807d25a_29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" name="Group 72"/>
          <p:cNvGraphicFramePr>
            <a:graphicFrameLocks noGrp="1"/>
          </p:cNvGraphicFramePr>
          <p:nvPr/>
        </p:nvGraphicFramePr>
        <p:xfrm>
          <a:off x="428821" y="1293921"/>
          <a:ext cx="11283905" cy="335518"/>
        </p:xfrm>
        <a:graphic>
          <a:graphicData uri="http://schemas.openxmlformats.org/drawingml/2006/table">
            <a:tbl>
              <a:tblPr/>
              <a:tblGrid>
                <a:gridCol w="206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서비스명</a:t>
                      </a:r>
                      <a:endParaRPr kumimoji="1" lang="ko-KR" altLang="en-US" sz="1600" b="0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44" marR="91444" marT="45839" marB="4583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400" b="0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전시회 도우미 서비스</a:t>
                      </a:r>
                    </a:p>
                  </a:txBody>
                  <a:tcPr marL="91444" marR="91444" marT="45839" marB="4583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Group 188">
            <a:extLst>
              <a:ext uri="{FF2B5EF4-FFF2-40B4-BE49-F238E27FC236}">
                <a16:creationId xmlns:a16="http://schemas.microsoft.com/office/drawing/2014/main" id="{56268E0F-6747-4F61-A418-66810668A057}"/>
              </a:ext>
            </a:extLst>
          </p:cNvPr>
          <p:cNvGraphicFramePr>
            <a:graphicFrameLocks noGrp="1"/>
          </p:cNvGraphicFramePr>
          <p:nvPr/>
        </p:nvGraphicFramePr>
        <p:xfrm>
          <a:off x="431274" y="1744249"/>
          <a:ext cx="11283906" cy="4807022"/>
        </p:xfrm>
        <a:graphic>
          <a:graphicData uri="http://schemas.openxmlformats.org/drawingml/2006/table">
            <a:tbl>
              <a:tblPr/>
              <a:tblGrid>
                <a:gridCol w="11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057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서비스 </a:t>
                      </a:r>
                      <a:r>
                        <a:rPr kumimoji="1" lang="ko-KR" altLang="en-US" sz="1600" b="1" i="0" u="none" strike="noStrike" cap="none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플로우</a:t>
                      </a:r>
                      <a:endParaRPr kumimoji="1" lang="ko-KR" altLang="en-US" sz="16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965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28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Google Shape;405;g1b5d807d25a_29_63">
            <a:extLst>
              <a:ext uri="{FF2B5EF4-FFF2-40B4-BE49-F238E27FC236}">
                <a16:creationId xmlns:a16="http://schemas.microsoft.com/office/drawing/2014/main" id="{CD166855-8906-C99A-D9FD-47D6B96C8D59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</a:t>
            </a:r>
            <a:r>
              <a:rPr lang="ko-KR" altLang="en-US" sz="2400" b="1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플로우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서비스 </a:t>
            </a:r>
            <a:r>
              <a:rPr lang="ko-KR" altLang="en-US" sz="1600" b="1" err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플로우</a:t>
            </a: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 예시</a:t>
            </a:r>
            <a:endParaRPr lang="en-US" altLang="ko-KR" sz="1600" b="1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160" y="2244149"/>
            <a:ext cx="6869994" cy="41335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63589" y="3818306"/>
            <a:ext cx="10576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권한 분리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8464936" y="3987583"/>
            <a:ext cx="79865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사각형: 둥근 모서리 1">
            <a:extLst>
              <a:ext uri="{FF2B5EF4-FFF2-40B4-BE49-F238E27FC236}">
                <a16:creationId xmlns:a16="http://schemas.microsoft.com/office/drawing/2014/main" id="{9516F460-FE4A-FAAA-0DEC-66AB4F33C2BC}"/>
              </a:ext>
            </a:extLst>
          </p:cNvPr>
          <p:cNvSpPr/>
          <p:nvPr/>
        </p:nvSpPr>
        <p:spPr>
          <a:xfrm>
            <a:off x="5025614" y="99124"/>
            <a:ext cx="2140772" cy="493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858271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188">
            <a:extLst>
              <a:ext uri="{FF2B5EF4-FFF2-40B4-BE49-F238E27FC236}">
                <a16:creationId xmlns:a16="http://schemas.microsoft.com/office/drawing/2014/main" id="{56268E0F-6747-4F61-A418-66810668A057}"/>
              </a:ext>
            </a:extLst>
          </p:cNvPr>
          <p:cNvGraphicFramePr>
            <a:graphicFrameLocks noGrp="1"/>
          </p:cNvGraphicFramePr>
          <p:nvPr/>
        </p:nvGraphicFramePr>
        <p:xfrm>
          <a:off x="428821" y="1312826"/>
          <a:ext cx="11283906" cy="5197335"/>
        </p:xfrm>
        <a:graphic>
          <a:graphicData uri="http://schemas.openxmlformats.org/drawingml/2006/table">
            <a:tbl>
              <a:tblPr/>
              <a:tblGrid>
                <a:gridCol w="11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28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ERD</a:t>
                      </a:r>
                      <a:endParaRPr kumimoji="1" lang="ko-KR" altLang="en-US" sz="16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3407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28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27" name="Google Shape;427;g1b5d807d25a_29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05;g1b5d807d25a_29_63">
            <a:extLst>
              <a:ext uri="{FF2B5EF4-FFF2-40B4-BE49-F238E27FC236}">
                <a16:creationId xmlns:a16="http://schemas.microsoft.com/office/drawing/2014/main" id="{3B7A09C6-0574-1B3A-FD14-41BBF632CF35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 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ERD </a:t>
            </a:r>
          </a:p>
        </p:txBody>
      </p:sp>
    </p:spTree>
    <p:extLst>
      <p:ext uri="{BB962C8B-B14F-4D97-AF65-F5344CB8AC3E}">
        <p14:creationId xmlns:p14="http://schemas.microsoft.com/office/powerpoint/2010/main" val="3387891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188">
            <a:extLst>
              <a:ext uri="{FF2B5EF4-FFF2-40B4-BE49-F238E27FC236}">
                <a16:creationId xmlns:a16="http://schemas.microsoft.com/office/drawing/2014/main" id="{56268E0F-6747-4F61-A418-66810668A057}"/>
              </a:ext>
            </a:extLst>
          </p:cNvPr>
          <p:cNvGraphicFramePr>
            <a:graphicFrameLocks noGrp="1"/>
          </p:cNvGraphicFramePr>
          <p:nvPr/>
        </p:nvGraphicFramePr>
        <p:xfrm>
          <a:off x="428821" y="1312826"/>
          <a:ext cx="11283906" cy="5197335"/>
        </p:xfrm>
        <a:graphic>
          <a:graphicData uri="http://schemas.openxmlformats.org/drawingml/2006/table">
            <a:tbl>
              <a:tblPr/>
              <a:tblGrid>
                <a:gridCol w="11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28">
                <a:tc>
                  <a:txBody>
                    <a:bodyPr/>
                    <a:lstStyle/>
                    <a:p>
                      <a:pPr marL="0" marR="0" lvl="0" indent="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ERD</a:t>
                      </a:r>
                      <a:endParaRPr kumimoji="1" lang="ko-KR" altLang="en-US" sz="16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3407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2800" b="1" i="0" u="none" strike="noStrike" cap="none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27" name="Google Shape;427;g1b5d807d25a_29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05;g1b5d807d25a_29_63">
            <a:extLst>
              <a:ext uri="{FF2B5EF4-FFF2-40B4-BE49-F238E27FC236}">
                <a16:creationId xmlns:a16="http://schemas.microsoft.com/office/drawing/2014/main" id="{3B7A09C6-0574-1B3A-FD14-41BBF632CF35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 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151" y="2223663"/>
            <a:ext cx="7357478" cy="3767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62629" y="5210176"/>
            <a:ext cx="1950001" cy="3385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보호 필요한 </a:t>
            </a:r>
            <a:r>
              <a:rPr lang="en-US" altLang="ko-KR" sz="1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 </a:t>
            </a:r>
            <a:r>
              <a:rPr lang="ko-KR" altLang="en-US" sz="1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분리</a:t>
            </a:r>
          </a:p>
        </p:txBody>
      </p:sp>
      <p:cxnSp>
        <p:nvCxnSpPr>
          <p:cNvPr id="11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ERD </a:t>
            </a: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예시</a:t>
            </a:r>
            <a:endParaRPr lang="en-US" altLang="ko-KR" sz="1600" b="1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sp>
        <p:nvSpPr>
          <p:cNvPr id="14" name="사각형: 둥근 모서리 1">
            <a:extLst>
              <a:ext uri="{FF2B5EF4-FFF2-40B4-BE49-F238E27FC236}">
                <a16:creationId xmlns:a16="http://schemas.microsoft.com/office/drawing/2014/main" id="{9516F460-FE4A-FAAA-0DEC-66AB4F33C2BC}"/>
              </a:ext>
            </a:extLst>
          </p:cNvPr>
          <p:cNvSpPr/>
          <p:nvPr/>
        </p:nvSpPr>
        <p:spPr>
          <a:xfrm>
            <a:off x="5025614" y="99124"/>
            <a:ext cx="2140772" cy="493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383792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g1b5d807d25a_29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05;g1b5d807d25a_29_63">
            <a:extLst>
              <a:ext uri="{FF2B5EF4-FFF2-40B4-BE49-F238E27FC236}">
                <a16:creationId xmlns:a16="http://schemas.microsoft.com/office/drawing/2014/main" id="{48608395-77A1-5405-D67F-6C6A717E347F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심의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UI/UX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설계서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UI/UX </a:t>
            </a:r>
            <a:r>
              <a:rPr lang="ko-KR" altLang="en-US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설계서</a:t>
            </a:r>
            <a:endParaRPr lang="en-US" altLang="ko-KR" sz="1600" b="1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graphicFrame>
        <p:nvGraphicFramePr>
          <p:cNvPr id="10" name="Group 14">
            <a:extLst>
              <a:ext uri="{FF2B5EF4-FFF2-40B4-BE49-F238E27FC236}">
                <a16:creationId xmlns:a16="http://schemas.microsoft.com/office/drawing/2014/main" id="{616FC8E6-63C4-D00E-318D-DDEAB6E5CE85}"/>
              </a:ext>
            </a:extLst>
          </p:cNvPr>
          <p:cNvGraphicFramePr>
            <a:graphicFrameLocks/>
          </p:cNvGraphicFramePr>
          <p:nvPr/>
        </p:nvGraphicFramePr>
        <p:xfrm>
          <a:off x="1997869" y="1071756"/>
          <a:ext cx="9732434" cy="555022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48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74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1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6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1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827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4251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27173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  <a:sym typeface="Wingdings 3" pitchFamily="18" charset="2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27173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5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UI </a:t>
                      </a:r>
                      <a:r>
                        <a:rPr kumimoji="1" lang="ko-KR" altLang="en-US" sz="15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설계서</a:t>
                      </a: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27173"/>
                        </a:solidFill>
                        <a:effectLst/>
                        <a:latin typeface="강원교육튼튼" panose="02020603020101020101" pitchFamily="18" charset="-127"/>
                        <a:ea typeface="강원교육튼튼" panose="02020603020101020101" pitchFamily="18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701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Project</a:t>
                      </a:r>
                      <a:r>
                        <a:rPr kumimoji="1"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명</a:t>
                      </a:r>
                      <a:endParaRPr kumimoji="1" lang="en-US" altLang="ko-KR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ko-KR" sz="700" b="0" i="0" u="none" strike="noStrike" cap="none" spc="0" normalizeH="0" baseline="0" noProof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생성형</a:t>
                      </a:r>
                      <a:r>
                        <a:rPr lang="ko-KR" sz="700" b="0" i="0" u="none" strike="noStrike" cap="none" spc="0" normalizeH="0" baseline="0" noProof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cap="none" spc="0" normalizeH="0" baseline="0" noProof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AI</a:t>
                      </a:r>
                      <a:r>
                        <a:rPr lang="ko-KR" altLang="en-US" sz="700" b="0" i="0" u="none" strike="noStrike" cap="none" spc="0" normalizeH="0" baseline="0" noProof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를</a:t>
                      </a:r>
                      <a:r>
                        <a:rPr lang="ko-KR" sz="700" b="0" i="0" u="none" strike="noStrike" cap="none" spc="0" normalizeH="0" baseline="0" noProof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통한 </a:t>
                      </a:r>
                      <a:r>
                        <a:rPr lang="ko-KR" sz="700" b="0" i="0" u="none" strike="noStrike" cap="none" spc="0" normalizeH="0" baseline="0" noProof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문해력</a:t>
                      </a:r>
                      <a:r>
                        <a:rPr lang="ko-KR" sz="700" b="0" i="0" u="none" strike="noStrike" cap="none" spc="0" normalizeH="0" baseline="0" noProof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향상 플랫폼</a:t>
                      </a:r>
                      <a:endParaRPr kumimoji="1" lang="ko-KR" sz="700" b="0" i="0" u="none" strike="noStrike" cap="none" spc="0" normalizeH="0" baseline="0" noProof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Wingdings 3" pitchFamily="18" charset="2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</a:t>
                      </a:r>
                      <a:r>
                        <a:rPr kumimoji="1" lang="en-US" altLang="ko-KR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ID</a:t>
                      </a: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USR-01-01-001</a:t>
                      </a:r>
                      <a:endParaRPr kumimoji="1" lang="ko-KR" altLang="ko-KR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서버</a:t>
                      </a: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WEB</a:t>
                      </a: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701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spc="0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화면경로</a:t>
                      </a: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홈</a:t>
                      </a:r>
                      <a:endParaRPr kumimoji="1" lang="ko-KR" altLang="en-US" sz="800" b="0" i="0" u="none" strike="noStrike" cap="none" spc="0" normalizeH="0" baseline="0" err="1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Wingdings 3" pitchFamily="18" charset="2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spc="0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화면명</a:t>
                      </a: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spc="0" normalizeH="0" baseline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메인화면</a:t>
                      </a: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버전</a:t>
                      </a: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1.0</a:t>
                      </a: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82">
                <a:tc gridSpan="4">
                  <a:txBody>
                    <a:bodyPr/>
                    <a:lstStyle/>
                    <a:p>
                      <a:pPr marL="0" marR="0" indent="0" algn="ctr" defTabSz="109746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구성</a:t>
                      </a: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3" pitchFamily="18" charset="2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109746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설명</a:t>
                      </a: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889"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ea typeface="강원교육튼튼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3" pitchFamily="18" charset="2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강원교육튼튼"/>
                          <a:ea typeface="강원교육튼튼"/>
                        </a:rPr>
                        <a:t>#</a:t>
                      </a: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강원교육튼튼"/>
                        <a:ea typeface="강원교육튼튼" panose="02020603020101020101" pitchFamily="18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대화 형식 프롬프트 화면</a:t>
                      </a: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344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강원교육튼튼"/>
                          <a:ea typeface="강원교육튼튼"/>
                        </a:rPr>
                        <a:t>1</a:t>
                      </a: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강원교육튼튼"/>
                        <a:ea typeface="강원교육튼튼" panose="02020603020101020101" pitchFamily="18" charset="-127"/>
                      </a:endParaRP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AutoNum type="arabicParenR"/>
                      </a:pPr>
                      <a:r>
                        <a:rPr lang="ko-KR" sz="800" b="0" i="0" u="none" strike="noStrike" noProof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로그인 되어있을 시)대화 형식의 프롬프트가 표시되며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 사용자는 이 프롬프트를 통해 다양한 서비스를 이용할 수 있음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로그인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중인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사용자에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요약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정보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표시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단계별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문제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목록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사용자는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각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묶음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단계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별로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'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작문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과제'를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수행할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수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있음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사용자의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최근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공부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기록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표시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발생일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기준으로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 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내림차순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 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정렬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).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최근에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풀었던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문제로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 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바로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 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이동이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 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용이하게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하여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 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편의성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제공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1-(3)와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같은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목록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 1-(3)는 한 번 새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대화가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시작되면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 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사라져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가려지게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되는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반면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nav로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된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해당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목록창은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사용자가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원할때마다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펼쳐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확인할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수 </a:t>
                      </a:r>
                      <a:r>
                        <a:rPr lang="en-US" altLang="ko-KR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있음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</a:txBody>
                  <a:tcPr marL="36496" marR="36496" marT="36496" marB="364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6860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0" i="0" u="none" strike="noStrike" cap="none" spc="0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강원교육튼튼"/>
                          <a:ea typeface="강원교육튼튼"/>
                        </a:rPr>
                        <a:t>2</a:t>
                      </a:r>
                      <a:endParaRPr kumimoji="1" lang="ko-KR" altLang="en-US" sz="800" b="0" i="0" u="none" strike="noStrike" cap="none" spc="0" normalizeH="0" baseline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강원교육튼튼"/>
                        <a:ea typeface="강원교육튼튼"/>
                      </a:endParaRPr>
                    </a:p>
                  </a:txBody>
                  <a:tcPr marL="36496" marR="36496" marT="36496" marB="36496"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lvl="0" indent="-171450" algn="l">
                        <a:lnSpc>
                          <a:spcPct val="15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noProof="0" err="1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비로그인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시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서비스 소개 페이지로 연결</a:t>
                      </a:r>
                      <a:endParaRPr lang="en-US" altLang="ko-KR" sz="800" b="0" i="0" u="none" strike="noStrike" noProof="0">
                        <a:solidFill>
                          <a:srgbClr val="00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36496" marR="36496" marT="36496" marB="36496"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그림 10" descr="텍스트, 스크린샷, 디스플레이, 폰트이(가) 표시된 사진&#10;&#10;자동 생성된 설명">
            <a:extLst>
              <a:ext uri="{FF2B5EF4-FFF2-40B4-BE49-F238E27FC236}">
                <a16:creationId xmlns:a16="http://schemas.microsoft.com/office/drawing/2014/main" id="{4F1AE894-E505-F668-759E-A3A24196C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717" y="4291873"/>
            <a:ext cx="3281089" cy="220652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7E0F27-674D-6BD7-BCF0-2EF33FFA6E82}"/>
              </a:ext>
            </a:extLst>
          </p:cNvPr>
          <p:cNvSpPr/>
          <p:nvPr/>
        </p:nvSpPr>
        <p:spPr>
          <a:xfrm>
            <a:off x="5418855" y="4307675"/>
            <a:ext cx="3283438" cy="220301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1200">
              <a:ea typeface="맑은 고딕"/>
            </a:endParaRPr>
          </a:p>
        </p:txBody>
      </p:sp>
      <p:pic>
        <p:nvPicPr>
          <p:cNvPr id="13" name="그림 1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5266357C-844C-4A60-9B94-BA3860CDE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419" y="2732079"/>
            <a:ext cx="3516352" cy="236239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171E65-2BB9-57DD-667D-BE3F31D4CA0F}"/>
              </a:ext>
            </a:extLst>
          </p:cNvPr>
          <p:cNvSpPr/>
          <p:nvPr/>
        </p:nvSpPr>
        <p:spPr>
          <a:xfrm>
            <a:off x="3049320" y="2737713"/>
            <a:ext cx="3520557" cy="23620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1200">
              <a:ea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D25537-203F-4218-4DFE-66397E8C86FE}"/>
              </a:ext>
            </a:extLst>
          </p:cNvPr>
          <p:cNvSpPr/>
          <p:nvPr/>
        </p:nvSpPr>
        <p:spPr>
          <a:xfrm>
            <a:off x="6300903" y="3002326"/>
            <a:ext cx="563475" cy="261321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200">
                <a:ea typeface="맑은 고딕"/>
              </a:rPr>
              <a:t>1-1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E87E2B-6584-B6FE-8977-DEA8E00B451B}"/>
              </a:ext>
            </a:extLst>
          </p:cNvPr>
          <p:cNvSpPr/>
          <p:nvPr/>
        </p:nvSpPr>
        <p:spPr>
          <a:xfrm>
            <a:off x="5187021" y="5895625"/>
            <a:ext cx="522096" cy="242131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200">
                <a:ea typeface="맑은 고딕"/>
              </a:rPr>
              <a:t>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5320A0-829B-BB15-45E0-78FD9B715A63}"/>
              </a:ext>
            </a:extLst>
          </p:cNvPr>
          <p:cNvSpPr/>
          <p:nvPr/>
        </p:nvSpPr>
        <p:spPr>
          <a:xfrm>
            <a:off x="3439452" y="2951843"/>
            <a:ext cx="1837419" cy="261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ea typeface="맑은 고딕"/>
              </a:rPr>
              <a:t>안녕하세요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E056A2-9E16-805C-B64F-E9914868623C}"/>
              </a:ext>
            </a:extLst>
          </p:cNvPr>
          <p:cNvSpPr/>
          <p:nvPr/>
        </p:nvSpPr>
        <p:spPr>
          <a:xfrm>
            <a:off x="2304794" y="2725278"/>
            <a:ext cx="712984" cy="22194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>
                <a:ea typeface="맑은 고딕"/>
              </a:rPr>
              <a:t>최근</a:t>
            </a:r>
          </a:p>
          <a:p>
            <a:endParaRPr lang="ko-KR" altLang="en-US" sz="1100">
              <a:ea typeface="맑은 고딕"/>
            </a:endParaRPr>
          </a:p>
          <a:p>
            <a:endParaRPr lang="ko-KR" altLang="en-US" sz="1100">
              <a:ea typeface="맑은 고딕"/>
            </a:endParaRPr>
          </a:p>
          <a:p>
            <a:r>
              <a:rPr lang="ko-KR" altLang="en-US" sz="1100" err="1">
                <a:ea typeface="맑은 고딕"/>
              </a:rPr>
              <a:t>문제를풀어보세요</a:t>
            </a:r>
            <a:endParaRPr lang="ko-KR" altLang="en-US" sz="1100">
              <a:ea typeface="맑은 고딕"/>
            </a:endParaRPr>
          </a:p>
          <a:p>
            <a:endParaRPr lang="ko-KR" altLang="en-US" sz="1100">
              <a:ea typeface="맑은 고딕"/>
            </a:endParaRPr>
          </a:p>
          <a:p>
            <a:endParaRPr lang="ko-KR" altLang="en-US" sz="1100">
              <a:ea typeface="맑은 고딕"/>
            </a:endParaRPr>
          </a:p>
          <a:p>
            <a:endParaRPr lang="ko-KR" altLang="en-US" sz="1100">
              <a:ea typeface="맑은 고딕"/>
            </a:endParaRPr>
          </a:p>
          <a:p>
            <a:endParaRPr lang="ko-KR" altLang="en-US" sz="1100">
              <a:ea typeface="맑은 고딕"/>
            </a:endParaRPr>
          </a:p>
          <a:p>
            <a:endParaRPr lang="ko-KR" altLang="en-US" sz="1100">
              <a:ea typeface="맑은 고딕"/>
            </a:endParaRPr>
          </a:p>
          <a:p>
            <a:endParaRPr lang="ko-KR" altLang="en-US" sz="1100">
              <a:ea typeface="맑은 고딕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0624B7-DE52-DA4B-148E-E2B9CFC65446}"/>
              </a:ext>
            </a:extLst>
          </p:cNvPr>
          <p:cNvSpPr/>
          <p:nvPr/>
        </p:nvSpPr>
        <p:spPr>
          <a:xfrm>
            <a:off x="3492904" y="3302949"/>
            <a:ext cx="2723176" cy="353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서비스 소개 말 간단히</a:t>
            </a:r>
          </a:p>
          <a:p>
            <a:r>
              <a:rPr lang="ko-KR" altLang="en-US" sz="600">
                <a:ea typeface="맑은 고딕"/>
              </a:rPr>
              <a:t>오늘도 </a:t>
            </a:r>
            <a:r>
              <a:rPr lang="ko-KR" altLang="en-US" sz="600" err="1">
                <a:ea typeface="맑은 고딕"/>
              </a:rPr>
              <a:t>ㅇㅇ서비스에서</a:t>
            </a:r>
            <a:r>
              <a:rPr lang="ko-KR" altLang="en-US" sz="600">
                <a:ea typeface="맑은 고딕"/>
              </a:rPr>
              <a:t> 문해력을 ~ 단계별 문제 풀이를 진행해 보세요 ~ 말하고 듣고 쓰고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346D17-1133-1A22-0A46-636B7AF6B8F9}"/>
              </a:ext>
            </a:extLst>
          </p:cNvPr>
          <p:cNvSpPr/>
          <p:nvPr/>
        </p:nvSpPr>
        <p:spPr>
          <a:xfrm>
            <a:off x="3377936" y="3782567"/>
            <a:ext cx="817960" cy="81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${</a:t>
            </a:r>
            <a:r>
              <a:rPr lang="ko-KR" altLang="en-US" sz="600" err="1">
                <a:ea typeface="맑은 고딕"/>
              </a:rPr>
              <a:t>user_name</a:t>
            </a:r>
            <a:r>
              <a:rPr lang="ko-KR" altLang="en-US" sz="600">
                <a:ea typeface="맑은 고딕"/>
              </a:rPr>
              <a:t>}님, 오늘 하루도 </a:t>
            </a:r>
            <a:r>
              <a:rPr lang="ko-KR" altLang="en-US" sz="600" err="1">
                <a:ea typeface="맑은 고딕"/>
              </a:rPr>
              <a:t>화이팅</a:t>
            </a:r>
            <a:r>
              <a:rPr lang="ko-KR" altLang="en-US" sz="600">
                <a:ea typeface="맑은 고딕"/>
              </a:rPr>
              <a:t> 하세요.</a:t>
            </a:r>
          </a:p>
          <a:p>
            <a:endParaRPr lang="ko-KR" altLang="en-US" sz="600">
              <a:ea typeface="맑은 고딕"/>
            </a:endParaRPr>
          </a:p>
          <a:p>
            <a:r>
              <a:rPr lang="ko-KR" altLang="en-US" sz="600">
                <a:ea typeface="맑은 고딕"/>
              </a:rPr>
              <a:t>랭킹 ${</a:t>
            </a:r>
            <a:r>
              <a:rPr lang="ko-KR" altLang="en-US" sz="600" err="1">
                <a:ea typeface="맑은 고딕"/>
              </a:rPr>
              <a:t>rank</a:t>
            </a:r>
            <a:r>
              <a:rPr lang="ko-KR" altLang="en-US" sz="600">
                <a:ea typeface="맑은 고딕"/>
              </a:rPr>
              <a:t>} 위</a:t>
            </a:r>
            <a:endParaRPr lang="ko-KR" sz="600">
              <a:ea typeface="맑은 고딕"/>
            </a:endParaRPr>
          </a:p>
          <a:p>
            <a:r>
              <a:rPr lang="ko-KR" altLang="en-US" sz="600" err="1">
                <a:ea typeface="맑은 고딕"/>
              </a:rPr>
              <a:t>힌트권</a:t>
            </a:r>
            <a:r>
              <a:rPr lang="ko-KR" altLang="en-US" sz="600">
                <a:ea typeface="맑은 고딕"/>
              </a:rPr>
              <a:t> ${</a:t>
            </a:r>
            <a:r>
              <a:rPr lang="ko-KR" altLang="en-US" sz="600" err="1">
                <a:ea typeface="맑은 고딕"/>
              </a:rPr>
              <a:t>힌트권</a:t>
            </a:r>
            <a:r>
              <a:rPr lang="ko-KR" altLang="en-US" sz="600">
                <a:ea typeface="맑은 고딕"/>
              </a:rPr>
              <a:t> 개수} 개</a:t>
            </a:r>
          </a:p>
          <a:p>
            <a:r>
              <a:rPr lang="ko-KR" sz="600">
                <a:ea typeface="맑은 고딕"/>
              </a:rPr>
              <a:t>최근 로그인 ${</a:t>
            </a:r>
            <a:r>
              <a:rPr lang="ko-KR" sz="600" err="1">
                <a:ea typeface="맑은 고딕"/>
              </a:rPr>
              <a:t>last_login</a:t>
            </a:r>
            <a:r>
              <a:rPr lang="ko-KR" sz="600">
                <a:ea typeface="맑은 고딕"/>
              </a:rPr>
              <a:t>}</a:t>
            </a:r>
            <a:endParaRPr lang="ko-KR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532DD9-42A4-E15C-8ED9-BE1F87E4F46F}"/>
              </a:ext>
            </a:extLst>
          </p:cNvPr>
          <p:cNvSpPr/>
          <p:nvPr/>
        </p:nvSpPr>
        <p:spPr>
          <a:xfrm>
            <a:off x="5389765" y="3782566"/>
            <a:ext cx="826316" cy="81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최근에 공부했어요</a:t>
            </a: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8C97B0-F0B1-4EB0-B0DA-68481CDDEC32}"/>
              </a:ext>
            </a:extLst>
          </p:cNvPr>
          <p:cNvSpPr/>
          <p:nvPr/>
        </p:nvSpPr>
        <p:spPr>
          <a:xfrm>
            <a:off x="5437542" y="3992252"/>
            <a:ext cx="6759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삼삼오오 -&gt;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0895CE-7886-32E3-0AE2-9DDE38A158C2}"/>
              </a:ext>
            </a:extLst>
          </p:cNvPr>
          <p:cNvSpPr/>
          <p:nvPr/>
        </p:nvSpPr>
        <p:spPr>
          <a:xfrm>
            <a:off x="5437542" y="4196042"/>
            <a:ext cx="6759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에누리   -&gt;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09FECED-7B1F-50B7-8844-9917D960DFEE}"/>
              </a:ext>
            </a:extLst>
          </p:cNvPr>
          <p:cNvSpPr/>
          <p:nvPr/>
        </p:nvSpPr>
        <p:spPr>
          <a:xfrm>
            <a:off x="3693895" y="4544968"/>
            <a:ext cx="563475" cy="261321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200">
                <a:ea typeface="맑은 고딕"/>
              </a:rPr>
              <a:t>1-2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3D91564-8F74-C7EE-D758-98ECABF2D8C1}"/>
              </a:ext>
            </a:extLst>
          </p:cNvPr>
          <p:cNvSpPr/>
          <p:nvPr/>
        </p:nvSpPr>
        <p:spPr>
          <a:xfrm>
            <a:off x="5437542" y="4399833"/>
            <a:ext cx="6759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 err="1">
                <a:ea typeface="맑은 고딕"/>
              </a:rPr>
              <a:t>어쩌구</a:t>
            </a:r>
            <a:r>
              <a:rPr lang="ko-KR" altLang="en-US" sz="600">
                <a:ea typeface="맑은 고딕"/>
              </a:rPr>
              <a:t>   -&gt;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331805-4729-35C8-5588-C62A6359A3AB}"/>
              </a:ext>
            </a:extLst>
          </p:cNvPr>
          <p:cNvSpPr/>
          <p:nvPr/>
        </p:nvSpPr>
        <p:spPr>
          <a:xfrm>
            <a:off x="4388029" y="3791427"/>
            <a:ext cx="817960" cy="81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단계별 문제 목록</a:t>
            </a: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  <a:p>
            <a:endParaRPr lang="ko-KR" altLang="en-US" sz="600"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395CEC-9E6E-E550-E5FA-87FC64560D9E}"/>
              </a:ext>
            </a:extLst>
          </p:cNvPr>
          <p:cNvSpPr/>
          <p:nvPr/>
        </p:nvSpPr>
        <p:spPr>
          <a:xfrm>
            <a:off x="5124495" y="3785489"/>
            <a:ext cx="92014" cy="812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스크롤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8BC052-4BAE-84EB-F93B-6A7FDCB6D08B}"/>
              </a:ext>
            </a:extLst>
          </p:cNvPr>
          <p:cNvSpPr/>
          <p:nvPr/>
        </p:nvSpPr>
        <p:spPr>
          <a:xfrm>
            <a:off x="6172244" y="3777552"/>
            <a:ext cx="92014" cy="812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스크롤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5984D8F-3086-B775-3D5E-BC809BF74CF7}"/>
              </a:ext>
            </a:extLst>
          </p:cNvPr>
          <p:cNvSpPr/>
          <p:nvPr/>
        </p:nvSpPr>
        <p:spPr>
          <a:xfrm>
            <a:off x="4405666" y="4000189"/>
            <a:ext cx="6759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1회차(1~5)&gt;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0FD7660-1D4D-6C68-F916-A261A361747D}"/>
              </a:ext>
            </a:extLst>
          </p:cNvPr>
          <p:cNvSpPr/>
          <p:nvPr/>
        </p:nvSpPr>
        <p:spPr>
          <a:xfrm>
            <a:off x="4405666" y="4198627"/>
            <a:ext cx="6759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2회차      -&gt;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F45F6B0-7C3A-5574-AB64-6266921508FE}"/>
              </a:ext>
            </a:extLst>
          </p:cNvPr>
          <p:cNvSpPr/>
          <p:nvPr/>
        </p:nvSpPr>
        <p:spPr>
          <a:xfrm>
            <a:off x="4405666" y="4412939"/>
            <a:ext cx="6759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>
                <a:ea typeface="맑은 고딕"/>
              </a:rPr>
              <a:t>3회차     -&gt;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4C42FE-88E1-B8F7-54AB-CF491AD2BD5E}"/>
              </a:ext>
            </a:extLst>
          </p:cNvPr>
          <p:cNvSpPr/>
          <p:nvPr/>
        </p:nvSpPr>
        <p:spPr>
          <a:xfrm>
            <a:off x="4717832" y="4552905"/>
            <a:ext cx="563475" cy="261321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200">
                <a:ea typeface="맑은 고딕"/>
              </a:rPr>
              <a:t>1-3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F212C1C-3DD2-BD96-97BA-EFAF4AEB4367}"/>
              </a:ext>
            </a:extLst>
          </p:cNvPr>
          <p:cNvSpPr/>
          <p:nvPr/>
        </p:nvSpPr>
        <p:spPr>
          <a:xfrm>
            <a:off x="5789395" y="4544968"/>
            <a:ext cx="563475" cy="261321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200">
                <a:ea typeface="맑은 고딕"/>
              </a:rPr>
              <a:t>1-4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026E7F-8067-DA02-4EB8-B414C102CF54}"/>
              </a:ext>
            </a:extLst>
          </p:cNvPr>
          <p:cNvSpPr/>
          <p:nvPr/>
        </p:nvSpPr>
        <p:spPr>
          <a:xfrm>
            <a:off x="2339389" y="3041325"/>
            <a:ext cx="6235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500">
                <a:ea typeface="맑은 고딕"/>
              </a:rPr>
              <a:t>1회차 </a:t>
            </a:r>
            <a:r>
              <a:rPr lang="ko-KR" altLang="en-US" sz="500" err="1">
                <a:ea typeface="맑은 고딕"/>
              </a:rPr>
              <a:t>삼삼오오어쩌구</a:t>
            </a:r>
            <a:r>
              <a:rPr lang="ko-KR" altLang="en-US" sz="500">
                <a:ea typeface="맑은 고딕"/>
              </a:rPr>
              <a:t>..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BD4F8D-CDC2-6E34-D20E-8608C591BAC8}"/>
              </a:ext>
            </a:extLst>
          </p:cNvPr>
          <p:cNvSpPr/>
          <p:nvPr/>
        </p:nvSpPr>
        <p:spPr>
          <a:xfrm>
            <a:off x="2339389" y="3509638"/>
            <a:ext cx="6235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500">
                <a:ea typeface="맑은 고딕"/>
              </a:rPr>
              <a:t>1회차: </a:t>
            </a:r>
            <a:r>
              <a:rPr lang="ko-KR" altLang="en-US" sz="500" err="1">
                <a:ea typeface="맑은 고딕"/>
              </a:rPr>
              <a:t>삼삼오오어쩌구</a:t>
            </a:r>
            <a:r>
              <a:rPr lang="ko-KR" altLang="en-US" sz="500">
                <a:ea typeface="맑은 고딕"/>
              </a:rPr>
              <a:t>...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F3055E1-C760-09E6-E5DC-F38BF13FD37A}"/>
              </a:ext>
            </a:extLst>
          </p:cNvPr>
          <p:cNvSpPr/>
          <p:nvPr/>
        </p:nvSpPr>
        <p:spPr>
          <a:xfrm>
            <a:off x="2339389" y="3723950"/>
            <a:ext cx="6235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500">
                <a:ea typeface="맑은 고딕"/>
              </a:rPr>
              <a:t>2회차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E286A9B-6C46-DE99-C692-D117B9AF5476}"/>
              </a:ext>
            </a:extLst>
          </p:cNvPr>
          <p:cNvSpPr/>
          <p:nvPr/>
        </p:nvSpPr>
        <p:spPr>
          <a:xfrm>
            <a:off x="2339389" y="3938263"/>
            <a:ext cx="623505" cy="161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500">
                <a:ea typeface="맑은 고딕"/>
              </a:rPr>
              <a:t>3회차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7EB5144-F329-D433-F8E1-814B93B1F49F}"/>
              </a:ext>
            </a:extLst>
          </p:cNvPr>
          <p:cNvSpPr/>
          <p:nvPr/>
        </p:nvSpPr>
        <p:spPr>
          <a:xfrm>
            <a:off x="2087666" y="4867340"/>
            <a:ext cx="563475" cy="261321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200">
                <a:ea typeface="맑은 고딕"/>
              </a:rPr>
              <a:t>1-5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106" y="1135050"/>
            <a:ext cx="1160359" cy="272046"/>
          </a:xfrm>
          <a:prstGeom prst="rect">
            <a:avLst/>
          </a:prstGeom>
        </p:spPr>
      </p:pic>
      <p:sp>
        <p:nvSpPr>
          <p:cNvPr id="41" name="사각형: 둥근 모서리 1">
            <a:extLst>
              <a:ext uri="{FF2B5EF4-FFF2-40B4-BE49-F238E27FC236}">
                <a16:creationId xmlns:a16="http://schemas.microsoft.com/office/drawing/2014/main" id="{9516F460-FE4A-FAAA-0DEC-66AB4F33C2BC}"/>
              </a:ext>
            </a:extLst>
          </p:cNvPr>
          <p:cNvSpPr/>
          <p:nvPr/>
        </p:nvSpPr>
        <p:spPr>
          <a:xfrm>
            <a:off x="5025614" y="99124"/>
            <a:ext cx="2140772" cy="493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83496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460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26E9521-833C-46B2-A322-CF4643D25B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Google Shape;55;p44"/>
          <p:cNvSpPr/>
          <p:nvPr/>
        </p:nvSpPr>
        <p:spPr>
          <a:xfrm>
            <a:off x="1578196" y="2461534"/>
            <a:ext cx="1201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B6"/>
              </a:buClr>
              <a:buSzPts val="2000"/>
              <a:buFont typeface="Malgun Gothic"/>
              <a:buNone/>
            </a:pPr>
            <a:r>
              <a:rPr lang="en-US" sz="2000" b="0" i="0" u="none" strike="noStrike" cap="none">
                <a:solidFill>
                  <a:srgbClr val="02BDB6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2.</a:t>
            </a:r>
            <a:endParaRPr sz="2000" b="0" i="0" u="none" strike="noStrike" cap="none">
              <a:solidFill>
                <a:srgbClr val="02BDB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" name="Google Shape;56;p44"/>
          <p:cNvCxnSpPr/>
          <p:nvPr/>
        </p:nvCxnSpPr>
        <p:spPr>
          <a:xfrm>
            <a:off x="1662559" y="3018266"/>
            <a:ext cx="0" cy="115912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" name="Google Shape;56;p44">
            <a:extLst>
              <a:ext uri="{FF2B5EF4-FFF2-40B4-BE49-F238E27FC236}">
                <a16:creationId xmlns:a16="http://schemas.microsoft.com/office/drawing/2014/main" id="{A6FA8833-DF74-C9B7-AAB8-66648A820917}"/>
              </a:ext>
            </a:extLst>
          </p:cNvPr>
          <p:cNvCxnSpPr/>
          <p:nvPr/>
        </p:nvCxnSpPr>
        <p:spPr>
          <a:xfrm>
            <a:off x="1662559" y="3018266"/>
            <a:ext cx="0" cy="115912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Google Shape;57;p11">
            <a:extLst>
              <a:ext uri="{FF2B5EF4-FFF2-40B4-BE49-F238E27FC236}">
                <a16:creationId xmlns:a16="http://schemas.microsoft.com/office/drawing/2014/main" id="{8252C0A6-9588-A16D-DF5A-CD51F56894AC}"/>
              </a:ext>
            </a:extLst>
          </p:cNvPr>
          <p:cNvSpPr txBox="1">
            <a:spLocks/>
          </p:cNvSpPr>
          <p:nvPr/>
        </p:nvSpPr>
        <p:spPr>
          <a:xfrm>
            <a:off x="1918259" y="3150510"/>
            <a:ext cx="8355481" cy="89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48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타당성 검토</a:t>
            </a:r>
          </a:p>
        </p:txBody>
      </p:sp>
    </p:spTree>
    <p:extLst>
      <p:ext uri="{BB962C8B-B14F-4D97-AF65-F5344CB8AC3E}">
        <p14:creationId xmlns:p14="http://schemas.microsoft.com/office/powerpoint/2010/main" val="3785870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타당성 검토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Weekly Scrum Template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924A8A-BAC7-83A2-CB92-F5883692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641484"/>
              </p:ext>
            </p:extLst>
          </p:nvPr>
        </p:nvGraphicFramePr>
        <p:xfrm>
          <a:off x="546016" y="1293245"/>
          <a:ext cx="11141348" cy="523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2077">
                  <a:extLst>
                    <a:ext uri="{9D8B030D-6E8A-4147-A177-3AD203B41FA5}">
                      <a16:colId xmlns:a16="http://schemas.microsoft.com/office/drawing/2014/main" val="2246536521"/>
                    </a:ext>
                  </a:extLst>
                </a:gridCol>
                <a:gridCol w="2882069">
                  <a:extLst>
                    <a:ext uri="{9D8B030D-6E8A-4147-A177-3AD203B41FA5}">
                      <a16:colId xmlns:a16="http://schemas.microsoft.com/office/drawing/2014/main" val="3343903442"/>
                    </a:ext>
                  </a:extLst>
                </a:gridCol>
                <a:gridCol w="2961865">
                  <a:extLst>
                    <a:ext uri="{9D8B030D-6E8A-4147-A177-3AD203B41FA5}">
                      <a16:colId xmlns:a16="http://schemas.microsoft.com/office/drawing/2014/main" val="422251080"/>
                    </a:ext>
                  </a:extLst>
                </a:gridCol>
                <a:gridCol w="2785337">
                  <a:extLst>
                    <a:ext uri="{9D8B030D-6E8A-4147-A177-3AD203B41FA5}">
                      <a16:colId xmlns:a16="http://schemas.microsoft.com/office/drawing/2014/main" val="1633466939"/>
                    </a:ext>
                  </a:extLst>
                </a:gridCol>
              </a:tblGrid>
              <a:tr h="406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분야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이번주 한 일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차주 계획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이슈사항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19638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AI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688119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Web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19532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나눔스퀘어 ExtraBold" panose="020B0600000101010101" pitchFamily="50" charset="-127"/>
                          <a:ea typeface="나눔스퀘어 ExtraBold"/>
                        </a:rPr>
                        <a:t>BackEnd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91691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26094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발표 및 자료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52156"/>
                  </a:ext>
                </a:extLst>
              </a:tr>
            </a:tbl>
          </a:graphicData>
        </a:graphic>
      </p:graphicFrame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Weekly Scrum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주차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7221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타당성 검토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Weekly Scrum Template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924A8A-BAC7-83A2-CB92-F5883692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402289"/>
              </p:ext>
            </p:extLst>
          </p:nvPr>
        </p:nvGraphicFramePr>
        <p:xfrm>
          <a:off x="546016" y="1293245"/>
          <a:ext cx="11141348" cy="523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2077">
                  <a:extLst>
                    <a:ext uri="{9D8B030D-6E8A-4147-A177-3AD203B41FA5}">
                      <a16:colId xmlns:a16="http://schemas.microsoft.com/office/drawing/2014/main" val="2246536521"/>
                    </a:ext>
                  </a:extLst>
                </a:gridCol>
                <a:gridCol w="2882069">
                  <a:extLst>
                    <a:ext uri="{9D8B030D-6E8A-4147-A177-3AD203B41FA5}">
                      <a16:colId xmlns:a16="http://schemas.microsoft.com/office/drawing/2014/main" val="3343903442"/>
                    </a:ext>
                  </a:extLst>
                </a:gridCol>
                <a:gridCol w="2961865">
                  <a:extLst>
                    <a:ext uri="{9D8B030D-6E8A-4147-A177-3AD203B41FA5}">
                      <a16:colId xmlns:a16="http://schemas.microsoft.com/office/drawing/2014/main" val="422251080"/>
                    </a:ext>
                  </a:extLst>
                </a:gridCol>
                <a:gridCol w="2785337">
                  <a:extLst>
                    <a:ext uri="{9D8B030D-6E8A-4147-A177-3AD203B41FA5}">
                      <a16:colId xmlns:a16="http://schemas.microsoft.com/office/drawing/2014/main" val="1633466939"/>
                    </a:ext>
                  </a:extLst>
                </a:gridCol>
              </a:tblGrid>
              <a:tr h="406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분야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이번주 한 일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차주 계획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이슈사항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19638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AI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688119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Web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19532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나눔스퀘어 ExtraBold" panose="020B0600000101010101" pitchFamily="50" charset="-127"/>
                          <a:ea typeface="나눔스퀘어 ExtraBold"/>
                        </a:rPr>
                        <a:t>BackEnd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91691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26094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발표 및 자료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52156"/>
                  </a:ext>
                </a:extLst>
              </a:tr>
            </a:tbl>
          </a:graphicData>
        </a:graphic>
      </p:graphicFrame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Weekly Scrum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(4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주차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0348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타당성 검토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Weekly Scrum Template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924A8A-BAC7-83A2-CB92-F5883692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342383"/>
              </p:ext>
            </p:extLst>
          </p:nvPr>
        </p:nvGraphicFramePr>
        <p:xfrm>
          <a:off x="546016" y="1293245"/>
          <a:ext cx="11141348" cy="523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2077">
                  <a:extLst>
                    <a:ext uri="{9D8B030D-6E8A-4147-A177-3AD203B41FA5}">
                      <a16:colId xmlns:a16="http://schemas.microsoft.com/office/drawing/2014/main" val="2246536521"/>
                    </a:ext>
                  </a:extLst>
                </a:gridCol>
                <a:gridCol w="2882069">
                  <a:extLst>
                    <a:ext uri="{9D8B030D-6E8A-4147-A177-3AD203B41FA5}">
                      <a16:colId xmlns:a16="http://schemas.microsoft.com/office/drawing/2014/main" val="3343903442"/>
                    </a:ext>
                  </a:extLst>
                </a:gridCol>
                <a:gridCol w="2961865">
                  <a:extLst>
                    <a:ext uri="{9D8B030D-6E8A-4147-A177-3AD203B41FA5}">
                      <a16:colId xmlns:a16="http://schemas.microsoft.com/office/drawing/2014/main" val="422251080"/>
                    </a:ext>
                  </a:extLst>
                </a:gridCol>
                <a:gridCol w="2785337">
                  <a:extLst>
                    <a:ext uri="{9D8B030D-6E8A-4147-A177-3AD203B41FA5}">
                      <a16:colId xmlns:a16="http://schemas.microsoft.com/office/drawing/2014/main" val="1633466939"/>
                    </a:ext>
                  </a:extLst>
                </a:gridCol>
              </a:tblGrid>
              <a:tr h="406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분야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이번주 한 일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차주 계획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/>
                        </a:rPr>
                        <a:t>이슈사항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19638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AI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688119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/>
                          <a:ea typeface="나눔스퀘어 ExtraBold"/>
                        </a:rPr>
                        <a:t>Web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19532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나눔스퀘어 ExtraBold" panose="020B0600000101010101" pitchFamily="50" charset="-127"/>
                          <a:ea typeface="나눔스퀘어 ExtraBold"/>
                        </a:rPr>
                        <a:t>BackEnd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91691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26094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발표 및 자료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52156"/>
                  </a:ext>
                </a:extLst>
              </a:tr>
            </a:tbl>
          </a:graphicData>
        </a:graphic>
      </p:graphicFrame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Weekly Scrum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(5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주차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8376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1b5d807d25a_29_1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05;g1b5d807d25a_29_63">
            <a:extLst>
              <a:ext uri="{FF2B5EF4-FFF2-40B4-BE49-F238E27FC236}">
                <a16:creationId xmlns:a16="http://schemas.microsoft.com/office/drawing/2014/main" id="{F8679D0C-7F4F-E14B-7A72-ECD510569ED2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타당성 검토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Google Shape;516;g1b5d807d25a_29_172"/>
          <p:cNvGraphicFramePr/>
          <p:nvPr/>
        </p:nvGraphicFramePr>
        <p:xfrm>
          <a:off x="555585" y="2320562"/>
          <a:ext cx="11049039" cy="33806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94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618">
                  <a:extLst>
                    <a:ext uri="{9D8B030D-6E8A-4147-A177-3AD203B41FA5}">
                      <a16:colId xmlns:a16="http://schemas.microsoft.com/office/drawing/2014/main" val="3075316024"/>
                    </a:ext>
                  </a:extLst>
                </a:gridCol>
                <a:gridCol w="5600199">
                  <a:extLst>
                    <a:ext uri="{9D8B030D-6E8A-4147-A177-3AD203B41FA5}">
                      <a16:colId xmlns:a16="http://schemas.microsoft.com/office/drawing/2014/main" val="1775010942"/>
                    </a:ext>
                  </a:extLst>
                </a:gridCol>
              </a:tblGrid>
              <a:tr h="255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u="none" strike="noStrike" cap="none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테이블명</a:t>
                      </a:r>
                      <a:endParaRPr lang="ko-KR" altLang="en-US" sz="1200" b="1" u="none" strike="noStrike" cap="none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US" altLang="ko-KR" sz="12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26763"/>
                  </a:ext>
                </a:extLst>
              </a:tr>
              <a:tr h="274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u="none" strike="noStrike" cap="none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컬럼명</a:t>
                      </a:r>
                      <a:r>
                        <a:rPr lang="en-US" altLang="ko-KR" sz="1200" b="1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b="1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한글</a:t>
                      </a:r>
                      <a:r>
                        <a:rPr lang="en-US" altLang="ko-KR" sz="1200" b="1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200" b="1" u="none" strike="noStrike" cap="none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i="0" u="none" strike="noStrike" cap="none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</a:rPr>
                        <a:t>컬럼명</a:t>
                      </a:r>
                      <a:r>
                        <a:rPr lang="en-US" altLang="ko-KR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영문</a:t>
                      </a:r>
                      <a:r>
                        <a:rPr lang="en-US" altLang="ko-KR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)</a:t>
                      </a:r>
                      <a:endParaRPr sz="1200" b="1" i="0" u="none" strike="noStrike" cap="none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</a:rPr>
                        <a:t>데이터</a:t>
                      </a:r>
                      <a:r>
                        <a:rPr lang="ko-KR" altLang="en-US" sz="1200" b="1" i="0" u="none" strike="noStrike" cap="none" baseline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타입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컬럼 설명</a:t>
                      </a:r>
                      <a:endParaRPr lang="en-US" altLang="ko-KR" sz="12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5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4957732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ko-KR" altLang="en-US" sz="105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9428808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5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823030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5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7381022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5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6760169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ko-KR" altLang="en-US" sz="105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0972429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ko-KR" altLang="en-US" sz="105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6186577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20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1222721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200" b="1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4779856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200" b="1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2023983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55586" y="1377799"/>
          <a:ext cx="11049038" cy="7008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1622">
                  <a:extLst>
                    <a:ext uri="{9D8B030D-6E8A-4147-A177-3AD203B41FA5}">
                      <a16:colId xmlns:a16="http://schemas.microsoft.com/office/drawing/2014/main" val="2151245679"/>
                    </a:ext>
                  </a:extLst>
                </a:gridCol>
                <a:gridCol w="1653743">
                  <a:extLst>
                    <a:ext uri="{9D8B030D-6E8A-4147-A177-3AD203B41FA5}">
                      <a16:colId xmlns:a16="http://schemas.microsoft.com/office/drawing/2014/main" val="1777842594"/>
                    </a:ext>
                  </a:extLst>
                </a:gridCol>
                <a:gridCol w="946946">
                  <a:extLst>
                    <a:ext uri="{9D8B030D-6E8A-4147-A177-3AD203B41FA5}">
                      <a16:colId xmlns:a16="http://schemas.microsoft.com/office/drawing/2014/main" val="1922603440"/>
                    </a:ext>
                  </a:extLst>
                </a:gridCol>
                <a:gridCol w="2762726">
                  <a:extLst>
                    <a:ext uri="{9D8B030D-6E8A-4147-A177-3AD203B41FA5}">
                      <a16:colId xmlns:a16="http://schemas.microsoft.com/office/drawing/2014/main" val="2138106070"/>
                    </a:ext>
                  </a:extLst>
                </a:gridCol>
                <a:gridCol w="3294001">
                  <a:extLst>
                    <a:ext uri="{9D8B030D-6E8A-4147-A177-3AD203B41FA5}">
                      <a16:colId xmlns:a16="http://schemas.microsoft.com/office/drawing/2014/main" val="2703784030"/>
                    </a:ext>
                  </a:extLst>
                </a:gridCol>
              </a:tblGrid>
              <a:tr h="2559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데이터명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형태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용량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출처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사용권한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090262"/>
                  </a:ext>
                </a:extLst>
              </a:tr>
              <a:tr h="4265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560736"/>
                  </a:ext>
                </a:extLst>
              </a:tr>
            </a:tbl>
          </a:graphicData>
        </a:graphic>
      </p:graphicFrame>
      <p:cxnSp>
        <p:nvCxnSpPr>
          <p:cNvPr id="13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 정의서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9085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1b5d807d25a_29_1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05;g1b5d807d25a_29_63">
            <a:extLst>
              <a:ext uri="{FF2B5EF4-FFF2-40B4-BE49-F238E27FC236}">
                <a16:creationId xmlns:a16="http://schemas.microsoft.com/office/drawing/2014/main" id="{F8679D0C-7F4F-E14B-7A72-ECD510569ED2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타당성 검토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Google Shape;516;g1b5d807d25a_29_172"/>
          <p:cNvGraphicFramePr/>
          <p:nvPr/>
        </p:nvGraphicFramePr>
        <p:xfrm>
          <a:off x="555585" y="2320562"/>
          <a:ext cx="11049039" cy="33806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94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618">
                  <a:extLst>
                    <a:ext uri="{9D8B030D-6E8A-4147-A177-3AD203B41FA5}">
                      <a16:colId xmlns:a16="http://schemas.microsoft.com/office/drawing/2014/main" val="3075316024"/>
                    </a:ext>
                  </a:extLst>
                </a:gridCol>
                <a:gridCol w="5600199">
                  <a:extLst>
                    <a:ext uri="{9D8B030D-6E8A-4147-A177-3AD203B41FA5}">
                      <a16:colId xmlns:a16="http://schemas.microsoft.com/office/drawing/2014/main" val="1775010942"/>
                    </a:ext>
                  </a:extLst>
                </a:gridCol>
              </a:tblGrid>
              <a:tr h="2554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u="none" strike="noStrike" cap="none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테이블명</a:t>
                      </a:r>
                      <a:endParaRPr lang="ko-KR" altLang="en-US" sz="1200" b="1" u="none" strike="noStrike" cap="none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Seoul_moving_month_4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US" altLang="ko-KR" sz="12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26763"/>
                  </a:ext>
                </a:extLst>
              </a:tr>
              <a:tr h="274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u="none" strike="noStrike" cap="none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컬럼명</a:t>
                      </a:r>
                      <a:r>
                        <a:rPr lang="en-US" altLang="ko-KR" sz="1200" b="1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b="1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한글</a:t>
                      </a:r>
                      <a:r>
                        <a:rPr lang="en-US" altLang="ko-KR" sz="1200" b="1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200" b="1" u="none" strike="noStrike" cap="none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i="0" u="none" strike="noStrike" cap="none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</a:rPr>
                        <a:t>컬럼명</a:t>
                      </a:r>
                      <a:r>
                        <a:rPr lang="en-US" altLang="ko-KR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영문</a:t>
                      </a:r>
                      <a:r>
                        <a:rPr lang="en-US" altLang="ko-KR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)</a:t>
                      </a:r>
                      <a:endParaRPr sz="1200" b="1" i="0" u="none" strike="noStrike" cap="none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</a:rPr>
                        <a:t>데이터</a:t>
                      </a:r>
                      <a:r>
                        <a:rPr lang="ko-KR" altLang="en-US" sz="1200" b="1" i="0" u="none" strike="noStrike" cap="none" baseline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1200" b="1" i="0" u="none" strike="noStrike" cap="none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타입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/>
                          <a:sym typeface="Arial"/>
                        </a:rPr>
                        <a:t>컬럼 설명</a:t>
                      </a:r>
                      <a:endParaRPr lang="en-US" altLang="ko-KR" sz="12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50" b="0" u="none" strike="noStrike" cap="none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도착시간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Int</a:t>
                      </a: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0 : '00:00~00:59'를 의미</a:t>
                      </a: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4957732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출발 자치구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Int</a:t>
                      </a:r>
                      <a:endParaRPr lang="en-US" altLang="ko-KR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자치구 코드</a:t>
                      </a: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9428808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50" b="0" u="none" strike="noStrike" cap="none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성별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object</a:t>
                      </a:r>
                      <a:endParaRPr 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20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F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(여성) </a:t>
                      </a:r>
                      <a:r>
                        <a:rPr lang="ko-KR" altLang="en-US" sz="120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M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(남성)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823030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50" b="0" u="none" strike="noStrike" cap="none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나이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Int</a:t>
                      </a: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5세단위, 10세단위로 구분</a:t>
                      </a: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7381022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50" b="0" u="none" strike="noStrike" cap="none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유형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Object</a:t>
                      </a:r>
                      <a:endParaRPr 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H, W, E( </a:t>
                      </a:r>
                      <a:r>
                        <a:rPr lang="en-US" altLang="ko-KR" sz="12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야간상주지</a:t>
                      </a:r>
                      <a:r>
                        <a:rPr lang="en-US" altLang="ko-KR" sz="12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주간상주지</a:t>
                      </a:r>
                      <a:r>
                        <a:rPr lang="en-US" altLang="ko-KR" sz="12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기타</a:t>
                      </a:r>
                      <a:r>
                        <a:rPr lang="en-US" altLang="ko-KR" sz="12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en-US" altLang="ko-KR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6760169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평균 이동 시간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Int</a:t>
                      </a:r>
                      <a:endParaRPr 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월 단위 평균 이동시간</a:t>
                      </a:r>
                      <a:endParaRPr lang="ko-KR" alt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0972429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ko-KR" altLang="en-US" sz="1050" b="0" u="none" strike="noStrike" cap="none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이동 인구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Object</a:t>
                      </a:r>
                      <a:endParaRPr lang="en-US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추정 </a:t>
                      </a:r>
                      <a:r>
                        <a:rPr lang="ko-KR" altLang="en-US" sz="12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합산값</a:t>
                      </a:r>
                      <a:endParaRPr lang="ko-KR" altLang="en-US" sz="12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6186577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0" u="none" strike="noStrike" cap="none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야간 </a:t>
                      </a:r>
                      <a:r>
                        <a:rPr lang="ko-KR" altLang="en-US" sz="1200" b="0" u="none" strike="noStrike" cap="none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상주지</a:t>
                      </a:r>
                      <a:endParaRPr lang="ko-KR" altLang="en-US" sz="1200" b="0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Object</a:t>
                      </a:r>
                      <a:endParaRPr lang="en-US" altLang="ko-KR"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  <a:sym typeface="Arial"/>
                        </a:rPr>
                        <a:t>당월 기준 특정 지역에서 야간 시간대에 자주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  <a:sym typeface="Arial"/>
                        </a:rPr>
                        <a:t>오래 머무른 지역</a:t>
                      </a: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1222721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200" b="1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4779856"/>
                  </a:ext>
                </a:extLst>
              </a:tr>
              <a:tr h="281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u="none" strike="noStrike" cap="none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〮〮〮</a:t>
                      </a:r>
                      <a:endParaRPr lang="ko-KR" altLang="en-US" sz="1200" b="1" u="none" strike="noStrike" cap="none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2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2023983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55586" y="1377799"/>
          <a:ext cx="1104903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1622">
                  <a:extLst>
                    <a:ext uri="{9D8B030D-6E8A-4147-A177-3AD203B41FA5}">
                      <a16:colId xmlns:a16="http://schemas.microsoft.com/office/drawing/2014/main" val="2151245679"/>
                    </a:ext>
                  </a:extLst>
                </a:gridCol>
                <a:gridCol w="1653743">
                  <a:extLst>
                    <a:ext uri="{9D8B030D-6E8A-4147-A177-3AD203B41FA5}">
                      <a16:colId xmlns:a16="http://schemas.microsoft.com/office/drawing/2014/main" val="1777842594"/>
                    </a:ext>
                  </a:extLst>
                </a:gridCol>
                <a:gridCol w="946946">
                  <a:extLst>
                    <a:ext uri="{9D8B030D-6E8A-4147-A177-3AD203B41FA5}">
                      <a16:colId xmlns:a16="http://schemas.microsoft.com/office/drawing/2014/main" val="1922603440"/>
                    </a:ext>
                  </a:extLst>
                </a:gridCol>
                <a:gridCol w="2762726">
                  <a:extLst>
                    <a:ext uri="{9D8B030D-6E8A-4147-A177-3AD203B41FA5}">
                      <a16:colId xmlns:a16="http://schemas.microsoft.com/office/drawing/2014/main" val="2138106070"/>
                    </a:ext>
                  </a:extLst>
                </a:gridCol>
                <a:gridCol w="3294001">
                  <a:extLst>
                    <a:ext uri="{9D8B030D-6E8A-4147-A177-3AD203B41FA5}">
                      <a16:colId xmlns:a16="http://schemas.microsoft.com/office/drawing/2014/main" val="2703784030"/>
                    </a:ext>
                  </a:extLst>
                </a:gridCol>
              </a:tblGrid>
              <a:tr h="2559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데이터명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형태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용량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출처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사용권한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090262"/>
                  </a:ext>
                </a:extLst>
              </a:tr>
              <a:tr h="4265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수도권 생활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CSV</a:t>
                      </a:r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2GB</a:t>
                      </a:r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서울 </a:t>
                      </a:r>
                      <a:r>
                        <a:rPr lang="ko-KR" altLang="en-US" sz="120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열린데이터</a:t>
                      </a:r>
                      <a:r>
                        <a:rPr lang="ko-KR" altLang="en-US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광장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공공누리</a:t>
                      </a:r>
                      <a:r>
                        <a:rPr lang="en-US" altLang="ko-KR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</a:t>
                      </a:r>
                      <a:r>
                        <a:rPr lang="ko-KR" altLang="en-US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유형</a:t>
                      </a:r>
                      <a:r>
                        <a:rPr lang="en-US" altLang="ko-KR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:</a:t>
                      </a:r>
                      <a:r>
                        <a:rPr lang="ko-KR" altLang="en-US" sz="120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출처표시</a:t>
                      </a:r>
                      <a:r>
                        <a:rPr lang="en-US" altLang="ko-KR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상업적 이용 및 변경 가능</a:t>
                      </a:r>
                      <a:r>
                        <a:rPr lang="en-US" altLang="ko-KR" sz="12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12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560736"/>
                  </a:ext>
                </a:extLst>
              </a:tr>
            </a:tbl>
          </a:graphicData>
        </a:graphic>
      </p:graphicFrame>
      <p:cxnSp>
        <p:nvCxnSpPr>
          <p:cNvPr id="13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 정의서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sp>
        <p:nvSpPr>
          <p:cNvPr id="15" name="사각형: 둥근 모서리 1">
            <a:extLst>
              <a:ext uri="{FF2B5EF4-FFF2-40B4-BE49-F238E27FC236}">
                <a16:creationId xmlns:a16="http://schemas.microsoft.com/office/drawing/2014/main" id="{0CBE18C3-5296-4B65-F4E1-6298130B396E}"/>
              </a:ext>
            </a:extLst>
          </p:cNvPr>
          <p:cNvSpPr/>
          <p:nvPr/>
        </p:nvSpPr>
        <p:spPr>
          <a:xfrm>
            <a:off x="5025614" y="99124"/>
            <a:ext cx="2140772" cy="493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4207712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g1b5d807d25a_29_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그룹 7"/>
          <p:cNvGrpSpPr/>
          <p:nvPr/>
        </p:nvGrpSpPr>
        <p:grpSpPr>
          <a:xfrm>
            <a:off x="711188" y="1474735"/>
            <a:ext cx="10503344" cy="4748266"/>
            <a:chOff x="711188" y="1474735"/>
            <a:chExt cx="10503344" cy="4748266"/>
          </a:xfrm>
        </p:grpSpPr>
        <p:sp>
          <p:nvSpPr>
            <p:cNvPr id="447" name="Google Shape;447;g1b5d807d25a_29_99"/>
            <p:cNvSpPr/>
            <p:nvPr/>
          </p:nvSpPr>
          <p:spPr>
            <a:xfrm>
              <a:off x="711202" y="1474735"/>
              <a:ext cx="1705428" cy="106274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6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모델 설명</a:t>
              </a:r>
              <a:endParaRPr lang="ko-KR" altLang="en-US" sz="16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49" name="Google Shape;449;g1b5d807d25a_29_99"/>
            <p:cNvSpPr/>
            <p:nvPr/>
          </p:nvSpPr>
          <p:spPr>
            <a:xfrm>
              <a:off x="711263" y="5004889"/>
              <a:ext cx="1705367" cy="121811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최종 모델 및 </a:t>
              </a:r>
              <a:endParaRPr lang="en-US" altLang="ko-KR"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성능 평가</a:t>
              </a:r>
              <a:endParaRPr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50" name="Google Shape;450;g1b5d807d25a_29_99"/>
            <p:cNvSpPr/>
            <p:nvPr/>
          </p:nvSpPr>
          <p:spPr>
            <a:xfrm>
              <a:off x="2525208" y="1474735"/>
              <a:ext cx="8689324" cy="1062744"/>
            </a:xfrm>
            <a:prstGeom prst="rect">
              <a:avLst/>
            </a:prstGeom>
            <a:noFill/>
            <a:ln w="317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모델 선택 이유 </a:t>
              </a:r>
              <a:endPara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주요 알고리즘 및 함수 설명</a:t>
              </a:r>
              <a:endPara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모델 학습 과정 설명</a:t>
              </a:r>
            </a:p>
          </p:txBody>
        </p:sp>
        <p:sp>
          <p:nvSpPr>
            <p:cNvPr id="19" name="Google Shape;447;g1b5d807d25a_29_99">
              <a:extLst>
                <a:ext uri="{FF2B5EF4-FFF2-40B4-BE49-F238E27FC236}">
                  <a16:creationId xmlns:a16="http://schemas.microsoft.com/office/drawing/2014/main" id="{DBD87BDD-2864-4C51-ABC7-18F4591DA27A}"/>
                </a:ext>
              </a:extLst>
            </p:cNvPr>
            <p:cNvSpPr/>
            <p:nvPr/>
          </p:nvSpPr>
          <p:spPr>
            <a:xfrm>
              <a:off x="711201" y="2628284"/>
              <a:ext cx="1705429" cy="10627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초기 결과 및 평가</a:t>
              </a:r>
            </a:p>
          </p:txBody>
        </p:sp>
        <p:sp>
          <p:nvSpPr>
            <p:cNvPr id="21" name="Google Shape;447;g1b5d807d25a_29_99">
              <a:extLst>
                <a:ext uri="{FF2B5EF4-FFF2-40B4-BE49-F238E27FC236}">
                  <a16:creationId xmlns:a16="http://schemas.microsoft.com/office/drawing/2014/main" id="{BA4FF36C-C613-469A-BE01-C3A88A3DECD6}"/>
                </a:ext>
              </a:extLst>
            </p:cNvPr>
            <p:cNvSpPr/>
            <p:nvPr/>
          </p:nvSpPr>
          <p:spPr>
            <a:xfrm>
              <a:off x="711188" y="3786863"/>
              <a:ext cx="1705442" cy="111359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모델 최적화</a:t>
              </a:r>
              <a:endParaRPr lang="en-US" altLang="ko-KR"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진행 사항</a:t>
              </a:r>
            </a:p>
          </p:txBody>
        </p:sp>
        <p:sp>
          <p:nvSpPr>
            <p:cNvPr id="2" name="Google Shape;450;g1b5d807d25a_29_99">
              <a:extLst>
                <a:ext uri="{FF2B5EF4-FFF2-40B4-BE49-F238E27FC236}">
                  <a16:creationId xmlns:a16="http://schemas.microsoft.com/office/drawing/2014/main" id="{19A61A13-84C2-6EE9-2A79-F0F31A87A42A}"/>
                </a:ext>
              </a:extLst>
            </p:cNvPr>
            <p:cNvSpPr/>
            <p:nvPr/>
          </p:nvSpPr>
          <p:spPr>
            <a:xfrm>
              <a:off x="2525208" y="2628283"/>
              <a:ext cx="8689324" cy="1062744"/>
            </a:xfrm>
            <a:prstGeom prst="rect">
              <a:avLst/>
            </a:prstGeom>
            <a:noFill/>
            <a:ln w="317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초기 성능 평가</a:t>
              </a:r>
              <a:endPara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모델 학습 과정 설명</a:t>
              </a:r>
            </a:p>
          </p:txBody>
        </p:sp>
        <p:sp>
          <p:nvSpPr>
            <p:cNvPr id="3" name="Google Shape;450;g1b5d807d25a_29_99">
              <a:extLst>
                <a:ext uri="{FF2B5EF4-FFF2-40B4-BE49-F238E27FC236}">
                  <a16:creationId xmlns:a16="http://schemas.microsoft.com/office/drawing/2014/main" id="{FCEC3959-60AD-65D4-5481-B6FE7CAB0DBB}"/>
                </a:ext>
              </a:extLst>
            </p:cNvPr>
            <p:cNvSpPr/>
            <p:nvPr/>
          </p:nvSpPr>
          <p:spPr>
            <a:xfrm>
              <a:off x="2525208" y="3791161"/>
              <a:ext cx="8689324" cy="1113594"/>
            </a:xfrm>
            <a:prstGeom prst="rect">
              <a:avLst/>
            </a:prstGeom>
            <a:noFill/>
            <a:ln w="317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하이퍼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파라미터 튜닝 과정</a:t>
              </a:r>
              <a:endPara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파인 튜닝 과정</a:t>
              </a:r>
              <a:endPara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성능 개선 결과</a:t>
              </a:r>
            </a:p>
          </p:txBody>
        </p:sp>
        <p:sp>
          <p:nvSpPr>
            <p:cNvPr id="4" name="Google Shape;450;g1b5d807d25a_29_99">
              <a:extLst>
                <a:ext uri="{FF2B5EF4-FFF2-40B4-BE49-F238E27FC236}">
                  <a16:creationId xmlns:a16="http://schemas.microsoft.com/office/drawing/2014/main" id="{2CFC485C-E79C-4A70-7A5E-030A9B7A0F0B}"/>
                </a:ext>
              </a:extLst>
            </p:cNvPr>
            <p:cNvSpPr/>
            <p:nvPr/>
          </p:nvSpPr>
          <p:spPr>
            <a:xfrm>
              <a:off x="2525208" y="5004889"/>
              <a:ext cx="8689324" cy="1218112"/>
            </a:xfrm>
            <a:prstGeom prst="rect">
              <a:avLst/>
            </a:prstGeom>
            <a:noFill/>
            <a:ln w="317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최종 모델 성능 지표 분석</a:t>
              </a:r>
              <a:endPara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r>
                <a:rPr lang="ko-KR" altLang="en-US" sz="140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ㅇ</a:t>
              </a:r>
              <a:r>
                <a:rPr lang="ko-KR" altLang="en-US" sz="140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다른 유사 모델과의 비교</a:t>
              </a:r>
            </a:p>
          </p:txBody>
        </p:sp>
      </p:grpSp>
      <p:sp>
        <p:nvSpPr>
          <p:cNvPr id="9" name="Google Shape;405;g1b5d807d25a_29_63">
            <a:extLst>
              <a:ext uri="{FF2B5EF4-FFF2-40B4-BE49-F238E27FC236}">
                <a16:creationId xmlns:a16="http://schemas.microsoft.com/office/drawing/2014/main" id="{4DD8DE16-D717-EF00-7F2F-5C5BF9D0A75D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타당성 검토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모델 정의서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596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g1b5d807d25a_29_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1b5d807d25a_29_99"/>
          <p:cNvSpPr/>
          <p:nvPr/>
        </p:nvSpPr>
        <p:spPr>
          <a:xfrm>
            <a:off x="711202" y="1353292"/>
            <a:ext cx="1705428" cy="12273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 설명</a:t>
            </a:r>
            <a:endParaRPr lang="ko-KR" altLang="en-US" sz="16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9" name="Google Shape;449;g1b5d807d25a_29_99"/>
          <p:cNvSpPr/>
          <p:nvPr/>
        </p:nvSpPr>
        <p:spPr>
          <a:xfrm>
            <a:off x="711263" y="5048021"/>
            <a:ext cx="1705367" cy="14562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모델 및 </a:t>
            </a:r>
            <a:endParaRPr lang="en-US" altLang="ko-KR" sz="16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성능 평가</a:t>
            </a:r>
            <a:endParaRPr sz="16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0" name="Google Shape;450;g1b5d807d25a_29_99"/>
          <p:cNvSpPr/>
          <p:nvPr/>
        </p:nvSpPr>
        <p:spPr>
          <a:xfrm>
            <a:off x="2525208" y="1353292"/>
            <a:ext cx="8689324" cy="1227320"/>
          </a:xfrm>
          <a:prstGeom prst="rect">
            <a:avLst/>
          </a:prstGeom>
          <a:noFill/>
          <a:ln w="31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모델 선택 이유 및 설명​</a:t>
            </a:r>
          </a:p>
          <a:p>
            <a:pPr marL="285750" lvl="0" indent="-285750">
              <a:buFontTx/>
              <a:buChar char="-"/>
            </a:pP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Gaze-LLE(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이하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gazelle)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은 사람의 시선 및 응시하는 대상을 탐지하는 </a:t>
            </a:r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딥러닝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모델임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프로젝트는 광고판을 응시하는 사람 탐지를 위해 사용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주요 알고리즘 및 함수 설명</a:t>
            </a:r>
          </a:p>
          <a:p>
            <a:pPr marL="285750" lvl="0" indent="-285750">
              <a:buFontTx/>
              <a:buChar char="-"/>
            </a:pP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Gazelle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은 이미지 내에서 머리 위치를 파악하기 위한 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retina-face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시선이 향하는 대상의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attention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을 계산하는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DIVOv2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구성되어 있음</a:t>
            </a:r>
          </a:p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모델 학습 과정 설명</a:t>
            </a:r>
          </a:p>
          <a:p>
            <a:pPr marL="285750" lvl="0" indent="-285750">
              <a:buFontTx/>
              <a:buChar char="-"/>
            </a:pP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시선 추적 관련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Dataset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 </a:t>
            </a:r>
            <a:r>
              <a:rPr lang="en-US" altLang="ko-KR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GazeFollow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VideoAttentionTraget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DINOv2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전이학습하여 모델 구축</a:t>
            </a:r>
            <a:endParaRPr lang="en-US" altLang="ko-KR" sz="110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Google Shape;447;g1b5d807d25a_29_99">
            <a:extLst>
              <a:ext uri="{FF2B5EF4-FFF2-40B4-BE49-F238E27FC236}">
                <a16:creationId xmlns:a16="http://schemas.microsoft.com/office/drawing/2014/main" id="{DBD87BDD-2864-4C51-ABC7-18F4591DA27A}"/>
              </a:ext>
            </a:extLst>
          </p:cNvPr>
          <p:cNvSpPr/>
          <p:nvPr/>
        </p:nvSpPr>
        <p:spPr>
          <a:xfrm>
            <a:off x="711201" y="2671417"/>
            <a:ext cx="1705429" cy="1062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초기 결과 및 평가</a:t>
            </a:r>
          </a:p>
        </p:txBody>
      </p:sp>
      <p:sp>
        <p:nvSpPr>
          <p:cNvPr id="21" name="Google Shape;447;g1b5d807d25a_29_99">
            <a:extLst>
              <a:ext uri="{FF2B5EF4-FFF2-40B4-BE49-F238E27FC236}">
                <a16:creationId xmlns:a16="http://schemas.microsoft.com/office/drawing/2014/main" id="{BA4FF36C-C613-469A-BE01-C3A88A3DECD6}"/>
              </a:ext>
            </a:extLst>
          </p:cNvPr>
          <p:cNvSpPr/>
          <p:nvPr/>
        </p:nvSpPr>
        <p:spPr>
          <a:xfrm>
            <a:off x="711188" y="3829996"/>
            <a:ext cx="1705442" cy="11135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 최적화</a:t>
            </a:r>
            <a:endParaRPr lang="en-US" altLang="ko-KR" sz="16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진행 사항</a:t>
            </a:r>
          </a:p>
        </p:txBody>
      </p:sp>
      <p:sp>
        <p:nvSpPr>
          <p:cNvPr id="2" name="Google Shape;450;g1b5d807d25a_29_99">
            <a:extLst>
              <a:ext uri="{FF2B5EF4-FFF2-40B4-BE49-F238E27FC236}">
                <a16:creationId xmlns:a16="http://schemas.microsoft.com/office/drawing/2014/main" id="{19A61A13-84C2-6EE9-2A79-F0F31A87A42A}"/>
              </a:ext>
            </a:extLst>
          </p:cNvPr>
          <p:cNvSpPr/>
          <p:nvPr/>
        </p:nvSpPr>
        <p:spPr>
          <a:xfrm>
            <a:off x="2525208" y="2671416"/>
            <a:ext cx="8689324" cy="1062744"/>
          </a:xfrm>
          <a:prstGeom prst="rect">
            <a:avLst/>
          </a:prstGeom>
          <a:noFill/>
          <a:ln w="31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초기 성능 평가</a:t>
            </a:r>
          </a:p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웹상에서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수집된 데이터를 기반으로 얼굴 인식 능력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실제 인원수 대비 인식된 얼굴 수 비교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 광고판 응시 인원에 대한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AUC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 평가</a:t>
            </a:r>
          </a:p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평가 결과</a:t>
            </a:r>
          </a:p>
          <a:p>
            <a:pPr lvl="0"/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광고판 응시 인원에 대한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AUC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0.956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높은 성능을 나타냄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얼굴 인식 능력은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0.71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정도로 비교적 낮았으며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어두운 환경이나 </a:t>
            </a:r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저화질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이미지에서 성능이 크게 저하되어 발생한 것으로 확인됨</a:t>
            </a:r>
          </a:p>
        </p:txBody>
      </p:sp>
      <p:sp>
        <p:nvSpPr>
          <p:cNvPr id="3" name="Google Shape;450;g1b5d807d25a_29_99">
            <a:extLst>
              <a:ext uri="{FF2B5EF4-FFF2-40B4-BE49-F238E27FC236}">
                <a16:creationId xmlns:a16="http://schemas.microsoft.com/office/drawing/2014/main" id="{FCEC3959-60AD-65D4-5481-B6FE7CAB0DBB}"/>
              </a:ext>
            </a:extLst>
          </p:cNvPr>
          <p:cNvSpPr/>
          <p:nvPr/>
        </p:nvSpPr>
        <p:spPr>
          <a:xfrm>
            <a:off x="2525208" y="3834294"/>
            <a:ext cx="8689324" cy="1113594"/>
          </a:xfrm>
          <a:prstGeom prst="rect">
            <a:avLst/>
          </a:prstGeom>
          <a:noFill/>
          <a:ln w="31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하이퍼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파라미터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튜닝 과정</a:t>
            </a:r>
            <a:b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촬영환경에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따라 판별 결과가 달라지는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retina-face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 다양한 해상도에서도 강건한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YOLO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교체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사람의 얼굴이 아닌 몸 전체를 탐지하도록 변경</a:t>
            </a:r>
          </a:p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파인 튜닝 과정</a:t>
            </a:r>
          </a:p>
          <a:p>
            <a:pPr lvl="0"/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직접 광고판 앞을 </a:t>
            </a:r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찰영하여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데이터 수집 후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 YOLO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모델을 적용하고 성능 평가 진행</a:t>
            </a:r>
          </a:p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성능 개선 결과</a:t>
            </a:r>
          </a:p>
          <a:p>
            <a:pPr lvl="0"/>
            <a:r>
              <a:rPr lang="en-US" altLang="ko-KR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Auc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기준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0.98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이상의 높은 분류 성능을 나타냄</a:t>
            </a:r>
          </a:p>
        </p:txBody>
      </p:sp>
      <p:sp>
        <p:nvSpPr>
          <p:cNvPr id="4" name="Google Shape;450;g1b5d807d25a_29_99">
            <a:extLst>
              <a:ext uri="{FF2B5EF4-FFF2-40B4-BE49-F238E27FC236}">
                <a16:creationId xmlns:a16="http://schemas.microsoft.com/office/drawing/2014/main" id="{2CFC485C-E79C-4A70-7A5E-030A9B7A0F0B}"/>
              </a:ext>
            </a:extLst>
          </p:cNvPr>
          <p:cNvSpPr/>
          <p:nvPr/>
        </p:nvSpPr>
        <p:spPr>
          <a:xfrm>
            <a:off x="2525208" y="5048021"/>
            <a:ext cx="8689324" cy="1456299"/>
          </a:xfrm>
          <a:prstGeom prst="rect">
            <a:avLst/>
          </a:prstGeom>
          <a:noFill/>
          <a:ln w="31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최종 모델 성능 지표 분석</a:t>
            </a:r>
          </a:p>
          <a:p>
            <a:pPr lvl="0"/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retina-face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기반의 유동인구 탐지 성능은 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0.71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정도로 낮았으나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YOLO +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몸 탐지로 개선작업을 거친 후에는 입력된 영상 대부분의 사람을 탐지할 수 있었음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auc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기준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0.98)</a:t>
            </a:r>
          </a:p>
          <a:p>
            <a:pPr lvl="0"/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ㅇ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다른 유사 모델과의 비교 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시선 추적에 대한 정확도만 기입하였음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lvl="0"/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모델</a:t>
            </a:r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0.956</a:t>
            </a:r>
          </a:p>
          <a:p>
            <a:pPr lvl="0"/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PDP: 0.934</a:t>
            </a:r>
          </a:p>
          <a:p>
            <a:pPr lvl="0"/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Multimodal gaze target prediction: 0.933</a:t>
            </a:r>
          </a:p>
          <a:p>
            <a:pPr lvl="0"/>
            <a:r>
              <a:rPr lang="en-US" altLang="ko-KR" sz="11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Attention target detection: 0.921</a:t>
            </a:r>
          </a:p>
        </p:txBody>
      </p:sp>
      <p:sp>
        <p:nvSpPr>
          <p:cNvPr id="9" name="Google Shape;405;g1b5d807d25a_29_63">
            <a:extLst>
              <a:ext uri="{FF2B5EF4-FFF2-40B4-BE49-F238E27FC236}">
                <a16:creationId xmlns:a16="http://schemas.microsoft.com/office/drawing/2014/main" id="{4DD8DE16-D717-EF00-7F2F-5C5BF9D0A75D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타당성 검토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정의서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모델 정의서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sp>
        <p:nvSpPr>
          <p:cNvPr id="16" name="사각형: 둥근 모서리 2">
            <a:extLst>
              <a:ext uri="{FF2B5EF4-FFF2-40B4-BE49-F238E27FC236}">
                <a16:creationId xmlns:a16="http://schemas.microsoft.com/office/drawing/2014/main" id="{32C0D24E-664E-9150-1EA6-4F0E947C6988}"/>
              </a:ext>
            </a:extLst>
          </p:cNvPr>
          <p:cNvSpPr/>
          <p:nvPr/>
        </p:nvSpPr>
        <p:spPr>
          <a:xfrm>
            <a:off x="5025614" y="99124"/>
            <a:ext cx="2140772" cy="493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2060859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26E9521-833C-46B2-A322-CF4643D25B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Google Shape;55;p44"/>
          <p:cNvSpPr/>
          <p:nvPr/>
        </p:nvSpPr>
        <p:spPr>
          <a:xfrm>
            <a:off x="1578196" y="2461534"/>
            <a:ext cx="1201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B6"/>
              </a:buClr>
              <a:buSzPts val="2000"/>
              <a:buFont typeface="Malgun Gothic"/>
              <a:buNone/>
            </a:pPr>
            <a:r>
              <a:rPr lang="en-US" sz="2000" b="0" i="0" u="none" strike="noStrike" cap="none">
                <a:solidFill>
                  <a:srgbClr val="02BDB6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3.</a:t>
            </a:r>
            <a:endParaRPr sz="2000" b="0" i="0" u="none" strike="noStrike" cap="none">
              <a:solidFill>
                <a:srgbClr val="02BDB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" name="Google Shape;56;p44"/>
          <p:cNvCxnSpPr/>
          <p:nvPr/>
        </p:nvCxnSpPr>
        <p:spPr>
          <a:xfrm>
            <a:off x="1662559" y="3018266"/>
            <a:ext cx="0" cy="115912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" name="Google Shape;56;p44">
            <a:extLst>
              <a:ext uri="{FF2B5EF4-FFF2-40B4-BE49-F238E27FC236}">
                <a16:creationId xmlns:a16="http://schemas.microsoft.com/office/drawing/2014/main" id="{A6FA8833-DF74-C9B7-AAB8-66648A820917}"/>
              </a:ext>
            </a:extLst>
          </p:cNvPr>
          <p:cNvCxnSpPr/>
          <p:nvPr/>
        </p:nvCxnSpPr>
        <p:spPr>
          <a:xfrm>
            <a:off x="1662559" y="3018266"/>
            <a:ext cx="0" cy="115912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Google Shape;57;p11">
            <a:extLst>
              <a:ext uri="{FF2B5EF4-FFF2-40B4-BE49-F238E27FC236}">
                <a16:creationId xmlns:a16="http://schemas.microsoft.com/office/drawing/2014/main" id="{8252C0A6-9588-A16D-DF5A-CD51F56894AC}"/>
              </a:ext>
            </a:extLst>
          </p:cNvPr>
          <p:cNvSpPr txBox="1">
            <a:spLocks/>
          </p:cNvSpPr>
          <p:nvPr/>
        </p:nvSpPr>
        <p:spPr>
          <a:xfrm>
            <a:off x="1918259" y="3150510"/>
            <a:ext cx="8355481" cy="89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48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품질</a:t>
            </a:r>
            <a:r>
              <a:rPr lang="en-US" altLang="ko-KR" sz="48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 </a:t>
            </a:r>
            <a:r>
              <a:rPr lang="ko-KR" altLang="en-US" sz="48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평가</a:t>
            </a:r>
          </a:p>
        </p:txBody>
      </p:sp>
    </p:spTree>
    <p:extLst>
      <p:ext uri="{BB962C8B-B14F-4D97-AF65-F5344CB8AC3E}">
        <p14:creationId xmlns:p14="http://schemas.microsoft.com/office/powerpoint/2010/main" val="1580758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품질 평가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Weekly Scrum Template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924A8A-BAC7-83A2-CB92-F5883692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757453"/>
              </p:ext>
            </p:extLst>
          </p:nvPr>
        </p:nvGraphicFramePr>
        <p:xfrm>
          <a:off x="546016" y="1293245"/>
          <a:ext cx="11141348" cy="523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2077">
                  <a:extLst>
                    <a:ext uri="{9D8B030D-6E8A-4147-A177-3AD203B41FA5}">
                      <a16:colId xmlns:a16="http://schemas.microsoft.com/office/drawing/2014/main" val="2246536521"/>
                    </a:ext>
                  </a:extLst>
                </a:gridCol>
                <a:gridCol w="2882069">
                  <a:extLst>
                    <a:ext uri="{9D8B030D-6E8A-4147-A177-3AD203B41FA5}">
                      <a16:colId xmlns:a16="http://schemas.microsoft.com/office/drawing/2014/main" val="3343903442"/>
                    </a:ext>
                  </a:extLst>
                </a:gridCol>
                <a:gridCol w="2961865">
                  <a:extLst>
                    <a:ext uri="{9D8B030D-6E8A-4147-A177-3AD203B41FA5}">
                      <a16:colId xmlns:a16="http://schemas.microsoft.com/office/drawing/2014/main" val="422251080"/>
                    </a:ext>
                  </a:extLst>
                </a:gridCol>
                <a:gridCol w="2785337">
                  <a:extLst>
                    <a:ext uri="{9D8B030D-6E8A-4147-A177-3AD203B41FA5}">
                      <a16:colId xmlns:a16="http://schemas.microsoft.com/office/drawing/2014/main" val="1633466939"/>
                    </a:ext>
                  </a:extLst>
                </a:gridCol>
              </a:tblGrid>
              <a:tr h="406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분야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이번주 한 일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차주 계획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이슈사항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19638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AI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688119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Web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19532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나눔스퀘어 ExtraBold" panose="020B0600000101010101" pitchFamily="50" charset="-127"/>
                          <a:ea typeface="나눔스퀘어 ExtraBold"/>
                        </a:rPr>
                        <a:t>BackEnd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91691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26094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 및 자료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52156"/>
                  </a:ext>
                </a:extLst>
              </a:tr>
            </a:tbl>
          </a:graphicData>
        </a:graphic>
      </p:graphicFrame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Weekly Scrum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(6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주차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2483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b5d807d25a_29_63"/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품질 평가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Weekly Scrum Template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924A8A-BAC7-83A2-CB92-F5883692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310751"/>
              </p:ext>
            </p:extLst>
          </p:nvPr>
        </p:nvGraphicFramePr>
        <p:xfrm>
          <a:off x="546016" y="1293245"/>
          <a:ext cx="11141348" cy="5235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2077">
                  <a:extLst>
                    <a:ext uri="{9D8B030D-6E8A-4147-A177-3AD203B41FA5}">
                      <a16:colId xmlns:a16="http://schemas.microsoft.com/office/drawing/2014/main" val="2246536521"/>
                    </a:ext>
                  </a:extLst>
                </a:gridCol>
                <a:gridCol w="2882069">
                  <a:extLst>
                    <a:ext uri="{9D8B030D-6E8A-4147-A177-3AD203B41FA5}">
                      <a16:colId xmlns:a16="http://schemas.microsoft.com/office/drawing/2014/main" val="3343903442"/>
                    </a:ext>
                  </a:extLst>
                </a:gridCol>
                <a:gridCol w="2961865">
                  <a:extLst>
                    <a:ext uri="{9D8B030D-6E8A-4147-A177-3AD203B41FA5}">
                      <a16:colId xmlns:a16="http://schemas.microsoft.com/office/drawing/2014/main" val="422251080"/>
                    </a:ext>
                  </a:extLst>
                </a:gridCol>
                <a:gridCol w="2785337">
                  <a:extLst>
                    <a:ext uri="{9D8B030D-6E8A-4147-A177-3AD203B41FA5}">
                      <a16:colId xmlns:a16="http://schemas.microsoft.com/office/drawing/2014/main" val="1633466939"/>
                    </a:ext>
                  </a:extLst>
                </a:gridCol>
              </a:tblGrid>
              <a:tr h="406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분야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이번주 한 일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차주 계획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이슈사항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19638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AI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>
                        <a:solidFill>
                          <a:schemeClr val="bg1">
                            <a:lumMod val="50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688119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ExtraBold" panose="020B0600000101010101" pitchFamily="50" charset="-127"/>
                          <a:ea typeface="나눔스퀘어 ExtraBold"/>
                        </a:rPr>
                        <a:t>Web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19532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나눔스퀘어 ExtraBold" panose="020B0600000101010101" pitchFamily="50" charset="-127"/>
                          <a:ea typeface="나눔스퀘어 ExtraBold"/>
                        </a:rPr>
                        <a:t>BackEnd</a:t>
                      </a:r>
                      <a:endParaRPr lang="ko-KR" altLang="en-US" sz="1400">
                        <a:latin typeface="나눔스퀘어 ExtraBold" panose="020B0600000101010101" pitchFamily="50" charset="-127"/>
                        <a:ea typeface="나눔스퀘어 Extra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91691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26094"/>
                  </a:ext>
                </a:extLst>
              </a:tr>
              <a:tr h="9658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발표 및 자료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52156"/>
                  </a:ext>
                </a:extLst>
              </a:tr>
            </a:tbl>
          </a:graphicData>
        </a:graphic>
      </p:graphicFrame>
      <p:cxnSp>
        <p:nvCxnSpPr>
          <p:cNvPr id="10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Weekly Scrum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(7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주차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3037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26E9521-833C-46B2-A322-CF4643D25B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Google Shape;55;p44"/>
          <p:cNvSpPr/>
          <p:nvPr/>
        </p:nvSpPr>
        <p:spPr>
          <a:xfrm>
            <a:off x="1578196" y="2461534"/>
            <a:ext cx="1201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B6"/>
              </a:buClr>
              <a:buSzPts val="2000"/>
              <a:buFont typeface="Malgun Gothic"/>
              <a:buNone/>
            </a:pPr>
            <a:r>
              <a:rPr lang="en-US" sz="2000">
                <a:solidFill>
                  <a:srgbClr val="02BDB6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</a:t>
            </a:r>
            <a:r>
              <a:rPr lang="en-US" sz="2000" b="0" i="0" u="none" strike="noStrike" cap="none">
                <a:solidFill>
                  <a:srgbClr val="02BDB6"/>
                </a:solidFill>
                <a:latin typeface="Malgun Gothic"/>
                <a:ea typeface="Malgun Gothic"/>
                <a:cs typeface="Malgun Gothic"/>
                <a:sym typeface="Malgun Gothic"/>
              </a:rPr>
              <a:t> 4.</a:t>
            </a:r>
            <a:endParaRPr sz="2000" b="0" i="0" u="none" strike="noStrike" cap="none">
              <a:solidFill>
                <a:srgbClr val="02BDB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" name="Google Shape;56;p44"/>
          <p:cNvCxnSpPr/>
          <p:nvPr/>
        </p:nvCxnSpPr>
        <p:spPr>
          <a:xfrm>
            <a:off x="1662559" y="3018266"/>
            <a:ext cx="0" cy="115912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" name="Google Shape;56;p44">
            <a:extLst>
              <a:ext uri="{FF2B5EF4-FFF2-40B4-BE49-F238E27FC236}">
                <a16:creationId xmlns:a16="http://schemas.microsoft.com/office/drawing/2014/main" id="{A6FA8833-DF74-C9B7-AAB8-66648A820917}"/>
              </a:ext>
            </a:extLst>
          </p:cNvPr>
          <p:cNvCxnSpPr/>
          <p:nvPr/>
        </p:nvCxnSpPr>
        <p:spPr>
          <a:xfrm>
            <a:off x="1662559" y="3018266"/>
            <a:ext cx="0" cy="115912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Google Shape;57;p11">
            <a:extLst>
              <a:ext uri="{FF2B5EF4-FFF2-40B4-BE49-F238E27FC236}">
                <a16:creationId xmlns:a16="http://schemas.microsoft.com/office/drawing/2014/main" id="{8252C0A6-9588-A16D-DF5A-CD51F56894AC}"/>
              </a:ext>
            </a:extLst>
          </p:cNvPr>
          <p:cNvSpPr txBox="1">
            <a:spLocks/>
          </p:cNvSpPr>
          <p:nvPr/>
        </p:nvSpPr>
        <p:spPr>
          <a:xfrm>
            <a:off x="1918259" y="3150510"/>
            <a:ext cx="8355481" cy="89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4800" b="1" spc="-10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과제 완료</a:t>
            </a:r>
          </a:p>
        </p:txBody>
      </p:sp>
    </p:spTree>
    <p:extLst>
      <p:ext uri="{BB962C8B-B14F-4D97-AF65-F5344CB8AC3E}">
        <p14:creationId xmlns:p14="http://schemas.microsoft.com/office/powerpoint/2010/main" val="2828868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>
          <a:extLst>
            <a:ext uri="{FF2B5EF4-FFF2-40B4-BE49-F238E27FC236}">
              <a16:creationId xmlns:a16="http://schemas.microsoft.com/office/drawing/2014/main" id="{572748B3-7081-DF89-9913-B69840EBD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b5d807d25a_29_53">
            <a:extLst>
              <a:ext uri="{FF2B5EF4-FFF2-40B4-BE49-F238E27FC236}">
                <a16:creationId xmlns:a16="http://schemas.microsoft.com/office/drawing/2014/main" id="{00DA7648-8A92-7281-9E02-CA612211A7C8}"/>
              </a:ext>
            </a:extLst>
          </p:cNvPr>
          <p:cNvSpPr txBox="1"/>
          <p:nvPr/>
        </p:nvSpPr>
        <p:spPr>
          <a:xfrm>
            <a:off x="134654" y="101758"/>
            <a:ext cx="41230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최종</a:t>
            </a:r>
            <a:r>
              <a:rPr lang="ko-KR" sz="2400" b="1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 제출 자료</a:t>
            </a:r>
            <a:endParaRPr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95" name="Google Shape;395;g1b5d807d25a_29_53">
            <a:extLst>
              <a:ext uri="{FF2B5EF4-FFF2-40B4-BE49-F238E27FC236}">
                <a16:creationId xmlns:a16="http://schemas.microsoft.com/office/drawing/2014/main" id="{8D438F64-271F-9809-4D7E-057E8286DB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1C287EC-C4E3-D61E-128F-447D42CE9657}"/>
              </a:ext>
            </a:extLst>
          </p:cNvPr>
          <p:cNvGraphicFramePr>
            <a:graphicFrameLocks noGrp="1"/>
          </p:cNvGraphicFramePr>
          <p:nvPr/>
        </p:nvGraphicFramePr>
        <p:xfrm>
          <a:off x="792687" y="1478976"/>
          <a:ext cx="10532533" cy="47783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9830">
                  <a:extLst>
                    <a:ext uri="{9D8B030D-6E8A-4147-A177-3AD203B41FA5}">
                      <a16:colId xmlns:a16="http://schemas.microsoft.com/office/drawing/2014/main" val="1739715293"/>
                    </a:ext>
                  </a:extLst>
                </a:gridCol>
                <a:gridCol w="3631530">
                  <a:extLst>
                    <a:ext uri="{9D8B030D-6E8A-4147-A177-3AD203B41FA5}">
                      <a16:colId xmlns:a16="http://schemas.microsoft.com/office/drawing/2014/main" val="3707262450"/>
                    </a:ext>
                  </a:extLst>
                </a:gridCol>
                <a:gridCol w="6141173">
                  <a:extLst>
                    <a:ext uri="{9D8B030D-6E8A-4147-A177-3AD203B41FA5}">
                      <a16:colId xmlns:a16="http://schemas.microsoft.com/office/drawing/2014/main" val="1226073138"/>
                    </a:ext>
                  </a:extLst>
                </a:gridCol>
              </a:tblGrid>
              <a:tr h="375627">
                <a:tc>
                  <a:txBody>
                    <a:bodyPr/>
                    <a:lstStyle/>
                    <a:p>
                      <a:pPr marL="0" marR="0" lvl="0" indent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6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No</a:t>
                      </a:r>
                      <a:endParaRPr lang="ko-KR" altLang="en-US" sz="1600" b="1" i="0" u="none" strike="noStrike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6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산출물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6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비고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97777"/>
                  </a:ext>
                </a:extLst>
              </a:tr>
              <a:tr h="628964">
                <a:tc>
                  <a:txBody>
                    <a:bodyPr/>
                    <a:lstStyle/>
                    <a:p>
                      <a:pPr marL="0" marR="0" lvl="0" indent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1</a:t>
                      </a:r>
                      <a:endParaRPr lang="ko-KR" altLang="en-US" sz="1800" b="1" i="0" u="none" strike="noStrike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최종 조별 과제 정의서</a:t>
                      </a:r>
                      <a:endParaRPr lang="en-US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 -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조별 과제 정의서 최종 버전으로 작성</a:t>
                      </a:r>
                      <a:endParaRPr lang="en-US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497670"/>
                  </a:ext>
                </a:extLst>
              </a:tr>
              <a:tr h="628964">
                <a:tc>
                  <a:txBody>
                    <a:bodyPr/>
                    <a:lstStyle/>
                    <a:p>
                      <a:pPr marL="0" marR="0" lvl="0" indent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2</a:t>
                      </a:r>
                      <a:endParaRPr lang="ko-KR" altLang="en-US" sz="1800" b="1" i="0" u="none" strike="noStrike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발표 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PPT(PDF)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 - PPT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와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 PDF 2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종 모두 제출</a:t>
                      </a:r>
                      <a:endParaRPr lang="en-US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051557"/>
                  </a:ext>
                </a:extLst>
              </a:tr>
              <a:tr h="628964">
                <a:tc>
                  <a:txBody>
                    <a:bodyPr/>
                    <a:lstStyle/>
                    <a:p>
                      <a:pPr marL="0" marR="0" lvl="0" indent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3</a:t>
                      </a:r>
                      <a:endParaRPr lang="ko-KR" altLang="en-US" sz="1800" b="1" i="0" u="none" strike="noStrike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사업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솔루션 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1PAGE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설명서</a:t>
                      </a:r>
                      <a:endParaRPr lang="en-US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 -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사업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/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솔루션 </a:t>
                      </a:r>
                      <a:r>
                        <a:rPr lang="ko-KR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소개 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1 Page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로 설명서 제작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(PPT,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이미지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)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940425"/>
                  </a:ext>
                </a:extLst>
              </a:tr>
              <a:tr h="628964">
                <a:tc>
                  <a:txBody>
                    <a:bodyPr/>
                    <a:lstStyle/>
                    <a:p>
                      <a:pPr marL="0" marR="0" lvl="0" indent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4</a:t>
                      </a:r>
                      <a:endParaRPr lang="ko-KR" altLang="en-US" sz="1800" b="1" i="0" u="none" strike="noStrike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프로젝트 결과물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영상</a:t>
                      </a:r>
                      <a:endParaRPr lang="en-US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 - 10</a:t>
                      </a:r>
                      <a:r>
                        <a:rPr lang="ko-KR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분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내외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, MP4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제출 </a:t>
                      </a:r>
                      <a:endParaRPr lang="en-US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32604"/>
                  </a:ext>
                </a:extLst>
              </a:tr>
              <a:tr h="628964">
                <a:tc>
                  <a:txBody>
                    <a:bodyPr/>
                    <a:lstStyle/>
                    <a:p>
                      <a:pPr marL="0" marR="0" lvl="0" indent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5</a:t>
                      </a:r>
                      <a:endParaRPr lang="ko-KR" altLang="en-US" sz="1800" b="1" i="0" u="none" strike="noStrike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프로젝트 결과물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숏 영상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 - 1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분 내외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, MP4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제출 </a:t>
                      </a:r>
                      <a:endParaRPr lang="ko-KR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92476"/>
                  </a:ext>
                </a:extLst>
              </a:tr>
              <a:tr h="628964">
                <a:tc>
                  <a:txBody>
                    <a:bodyPr/>
                    <a:lstStyle/>
                    <a:p>
                      <a:pPr marL="0" marR="0" lvl="0" indent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6</a:t>
                      </a:r>
                      <a:endParaRPr lang="ko-KR" altLang="en-US" sz="1800" b="1" i="0" u="none" strike="noStrike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썸네일 이미지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 - </a:t>
                      </a:r>
                      <a:r>
                        <a:rPr lang="ko-KR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썸네일 이미지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: </a:t>
                      </a:r>
                      <a:r>
                        <a:rPr lang="ko-KR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프로젝트 주제 썸네일</a:t>
                      </a:r>
                      <a:endParaRPr lang="en-US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Arial"/>
                      </a:endParaRPr>
                    </a:p>
                    <a:p>
                      <a:pPr marL="0" marR="0" lvl="0" indent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  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✔ 이미지 규격 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: 680*680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픽셀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,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Arial"/>
                        </a:rPr>
                        <a:t> 비율 고정</a:t>
                      </a:r>
                      <a:endParaRPr lang="en-US" altLang="ko-KR" sz="1800" b="0" i="0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883857"/>
                  </a:ext>
                </a:extLst>
              </a:tr>
              <a:tr h="628964">
                <a:tc>
                  <a:txBody>
                    <a:bodyPr/>
                    <a:lstStyle/>
                    <a:p>
                      <a:pPr marL="0" marR="0" lvl="0" indent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1" i="0" u="none" strike="noStrike" cap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7</a:t>
                      </a:r>
                      <a:endParaRPr lang="ko-KR" altLang="en-US" sz="1800" b="1" i="0" u="none" strike="noStrike" cap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개발 코드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소스 코드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데이터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 - </a:t>
                      </a:r>
                      <a:r>
                        <a:rPr lang="ko-KR" altLang="en-US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소스코드 및 활용 데이터 압축하여 제출</a:t>
                      </a:r>
                      <a:r>
                        <a:rPr lang="en-US" altLang="ko-KR" sz="1800" b="0" i="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  <a:sym typeface="Arial"/>
                        </a:rPr>
                        <a:t> 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836463"/>
                  </a:ext>
                </a:extLst>
              </a:tr>
            </a:tbl>
          </a:graphicData>
        </a:graphic>
      </p:graphicFrame>
      <p:cxnSp>
        <p:nvCxnSpPr>
          <p:cNvPr id="11" name="Google Shape;394;g1b5d807d25a_29_53"/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396;g1b5d807d25a_29_53"/>
          <p:cNvSpPr txBox="1"/>
          <p:nvPr/>
        </p:nvSpPr>
        <p:spPr>
          <a:xfrm>
            <a:off x="382521" y="857794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ko-KR" altLang="en-US" sz="160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해당 산출물이 확인되어야 과제완료처리 가능합니다</a:t>
            </a:r>
          </a:p>
        </p:txBody>
      </p:sp>
    </p:spTree>
    <p:extLst>
      <p:ext uri="{BB962C8B-B14F-4D97-AF65-F5344CB8AC3E}">
        <p14:creationId xmlns:p14="http://schemas.microsoft.com/office/powerpoint/2010/main" val="1140876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516;g1b5d807d25a_29_172">
            <a:extLst>
              <a:ext uri="{FF2B5EF4-FFF2-40B4-BE49-F238E27FC236}">
                <a16:creationId xmlns:a16="http://schemas.microsoft.com/office/drawing/2014/main" id="{92275746-D81E-AC13-3E6B-92854DA9F9FC}"/>
              </a:ext>
            </a:extLst>
          </p:cNvPr>
          <p:cNvGraphicFramePr/>
          <p:nvPr/>
        </p:nvGraphicFramePr>
        <p:xfrm>
          <a:off x="696000" y="1370394"/>
          <a:ext cx="10800001" cy="5022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56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8545">
                  <a:extLst>
                    <a:ext uri="{9D8B030D-6E8A-4147-A177-3AD203B41FA5}">
                      <a16:colId xmlns:a16="http://schemas.microsoft.com/office/drawing/2014/main" val="1023541757"/>
                    </a:ext>
                  </a:extLst>
                </a:gridCol>
              </a:tblGrid>
              <a:tr h="4281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분야</a:t>
                      </a:r>
                      <a:endParaRPr sz="14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한 일</a:t>
                      </a:r>
                      <a:endParaRPr sz="14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차주 계획</a:t>
                      </a:r>
                      <a:endParaRPr sz="14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43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err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최종산출물</a:t>
                      </a:r>
                      <a:endParaRPr lang="en-US"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-. </a:t>
                      </a:r>
                      <a:r>
                        <a:rPr lang="ko-KR" altLang="en-US" sz="1400" u="none" strike="noStrike" cap="none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최종산출물</a:t>
                      </a:r>
                      <a:r>
                        <a:rPr lang="en-US" altLang="ko-KR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(7</a:t>
                      </a:r>
                      <a:r>
                        <a:rPr lang="ko-KR" altLang="en-US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종 확인</a:t>
                      </a:r>
                      <a:r>
                        <a:rPr lang="en-US" altLang="ko-KR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sz="1400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-. </a:t>
                      </a:r>
                      <a:r>
                        <a:rPr lang="ko-KR" altLang="en-US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데이터 정리</a:t>
                      </a:r>
                      <a:endParaRPr sz="1400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3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발표회 준비</a:t>
                      </a:r>
                      <a:endParaRPr lang="en-US"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-. </a:t>
                      </a:r>
                      <a:r>
                        <a:rPr lang="ko-KR" altLang="en-US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발표회 </a:t>
                      </a:r>
                      <a:r>
                        <a:rPr lang="en-US" altLang="ko-KR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Q&amp;A </a:t>
                      </a:r>
                      <a:r>
                        <a:rPr lang="ko-KR" altLang="en-US" sz="1400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준비</a:t>
                      </a:r>
                      <a:endParaRPr sz="1400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Google Shape;405;g1b5d807d25a_29_63">
            <a:extLst>
              <a:ext uri="{FF2B5EF4-FFF2-40B4-BE49-F238E27FC236}">
                <a16:creationId xmlns:a16="http://schemas.microsoft.com/office/drawing/2014/main" id="{FA6ADD52-6D7B-DDE3-CF10-EF2BC4203FFF}"/>
              </a:ext>
            </a:extLst>
          </p:cNvPr>
          <p:cNvSpPr txBox="1"/>
          <p:nvPr/>
        </p:nvSpPr>
        <p:spPr>
          <a:xfrm>
            <a:off x="134653" y="101758"/>
            <a:ext cx="67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 완료</a:t>
            </a:r>
            <a:r>
              <a:rPr 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Weekly Scrum Template</a:t>
            </a: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Google Shape;394;g1b5d807d25a_29_53">
            <a:extLst>
              <a:ext uri="{FF2B5EF4-FFF2-40B4-BE49-F238E27FC236}">
                <a16:creationId xmlns:a16="http://schemas.microsoft.com/office/drawing/2014/main" id="{9A981575-88A0-DB05-1706-DBC756859D45}"/>
              </a:ext>
            </a:extLst>
          </p:cNvPr>
          <p:cNvCxnSpPr/>
          <p:nvPr/>
        </p:nvCxnSpPr>
        <p:spPr>
          <a:xfrm>
            <a:off x="382521" y="885825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396;g1b5d807d25a_29_53">
            <a:extLst>
              <a:ext uri="{FF2B5EF4-FFF2-40B4-BE49-F238E27FC236}">
                <a16:creationId xmlns:a16="http://schemas.microsoft.com/office/drawing/2014/main" id="{6CFEE102-4F98-693B-65D4-9CC3C0CF3EA3}"/>
              </a:ext>
            </a:extLst>
          </p:cNvPr>
          <p:cNvSpPr txBox="1"/>
          <p:nvPr/>
        </p:nvSpPr>
        <p:spPr>
          <a:xfrm>
            <a:off x="428821" y="870638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Weekly Scrum 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(8</a:t>
            </a:r>
            <a:r>
              <a:rPr lang="ko-KR" altLang="en-US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주차</a:t>
            </a:r>
            <a:r>
              <a:rPr lang="en-US" altLang="ko-KR" sz="16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sz="1600" b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893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AE4280BA0073646A4933C2E85F11A63" ma:contentTypeVersion="3" ma:contentTypeDescription="새 문서를 만듭니다." ma:contentTypeScope="" ma:versionID="19a859a1ebf1c1fcf330f7e274a4229a">
  <xsd:schema xmlns:xsd="http://www.w3.org/2001/XMLSchema" xmlns:xs="http://www.w3.org/2001/XMLSchema" xmlns:p="http://schemas.microsoft.com/office/2006/metadata/properties" xmlns:ns2="16203f9f-02d7-4444-bca7-e18bebf6bdea" targetNamespace="http://schemas.microsoft.com/office/2006/metadata/properties" ma:root="true" ma:fieldsID="4675a203a4870a5e6a13658661b1285a" ns2:_="">
    <xsd:import namespace="16203f9f-02d7-4444-bca7-e18bebf6bd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03f9f-02d7-4444-bca7-e18bebf6bd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95772A-BE9D-4213-BC54-62326E46AE0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FE3145-8E9A-4631-B9FE-7BEDBA1D7D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60F215-E862-4307-8E7E-87AE4229C1BA}">
  <ds:schemaRefs>
    <ds:schemaRef ds:uri="16203f9f-02d7-4444-bca7-e18bebf6bd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32</Slides>
  <Notes>31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revision>1</cp:revision>
  <dcterms:created xsi:type="dcterms:W3CDTF">2025-06-30T08:45:43Z</dcterms:created>
  <dcterms:modified xsi:type="dcterms:W3CDTF">2026-06-29T00:23:39Z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0x0101007AE4280BA0073646A4933C2E85F11A63</vt:lpwstr>
  </property>
</Properties>
</file>